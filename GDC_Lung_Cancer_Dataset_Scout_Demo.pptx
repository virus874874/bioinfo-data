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946" y="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TW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TCGA-LUAD</c:v>
          </c:tx>
          <c:spPr>
            <a:solidFill>
              <a:srgbClr val="6DCBF4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050">
                    <a:solidFill>
                      <a:srgbClr val="111827"/>
                    </a:solidFill>
                    <a:latin typeface="Microsoft JhengHei"/>
                    <a:ea typeface="Microsoft JhengHei"/>
                    <a:cs typeface="Microsoft JhengHei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AJCC pathologic stage</c:v>
              </c:pt>
              <c:pt idx="1">
                <c:v>Vital status</c:v>
              </c:pt>
              <c:pt idx="2">
                <c:v>Last follow-up</c:v>
              </c:pt>
            </c:strLit>
          </c:cat>
          <c:val>
            <c:numLit>
              <c:formatCode>General</c:formatCode>
              <c:ptCount val="3"/>
              <c:pt idx="0">
                <c:v>87.9</c:v>
              </c:pt>
              <c:pt idx="1">
                <c:v>89.2</c:v>
              </c:pt>
              <c:pt idx="2">
                <c:v>87.7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8BDC-4E40-9140-3009D35DD521}"/>
            </c:ext>
          </c:extLst>
        </c:ser>
        <c:ser>
          <c:idx val="1"/>
          <c:order val="1"/>
          <c:tx>
            <c:v>TCGA-LUSC</c:v>
          </c:tx>
          <c:spPr>
            <a:solidFill>
              <a:srgbClr val="005EA8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050">
                    <a:solidFill>
                      <a:srgbClr val="111827"/>
                    </a:solidFill>
                    <a:latin typeface="Microsoft JhengHei"/>
                    <a:ea typeface="Microsoft JhengHei"/>
                    <a:cs typeface="Microsoft JhengHei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AJCC pathologic stage</c:v>
              </c:pt>
              <c:pt idx="1">
                <c:v>Vital status</c:v>
              </c:pt>
              <c:pt idx="2">
                <c:v>Last follow-up</c:v>
              </c:pt>
            </c:strLit>
          </c:cat>
          <c:val>
            <c:numLit>
              <c:formatCode>General</c:formatCode>
              <c:ptCount val="3"/>
              <c:pt idx="0">
                <c:v>99.2</c:v>
              </c:pt>
              <c:pt idx="1">
                <c:v>100</c:v>
              </c:pt>
              <c:pt idx="2">
                <c:v>99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8BDC-4E40-9140-3009D35DD52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B8C0CA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endParaRPr lang="zh-TW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w="9525">
              <a:solidFill>
                <a:srgbClr val="E3E7EB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0">
            <a:solidFill>
              <a:srgbClr val="FFFFFF"/>
            </a:solidFill>
            <a:prstDash val="solid"/>
          </a:ln>
        </c:spPr>
        <c:txPr>
          <a:bodyPr anchorCtr="1"/>
          <a:lstStyle/>
          <a:p>
            <a:pPr>
              <a:defRPr sz="975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endParaRPr lang="zh-TW"/>
          </a:p>
        </c:txPr>
        <c:crossAx val="48650112"/>
        <c:crosses val="autoZero"/>
        <c:crossBetween val="between"/>
        <c:majorUnit val="25"/>
      </c:valAx>
      <c:spPr>
        <a:noFill/>
        <a:ln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anchorCtr="1"/>
        <a:lstStyle/>
        <a:p>
          <a:pPr>
            <a:defRPr sz="1200">
              <a:solidFill>
                <a:srgbClr val="111827"/>
              </a:solidFill>
              <a:latin typeface="Microsoft JhengHei"/>
              <a:ea typeface="Microsoft JhengHei"/>
              <a:cs typeface="Microsoft JhengHei"/>
            </a:defRPr>
          </a:pPr>
          <a:endParaRPr lang="zh-TW"/>
        </a:p>
      </c:txPr>
    </c:legend>
    <c:plotVisOnly val="1"/>
    <c:dispBlanksAs val="zero"/>
    <c:showDLblsOverMax val="1"/>
  </c:chart>
  <c:spPr>
    <a:solidFill>
      <a:srgbClr val="FFFFFF"/>
    </a:solidFill>
    <a:ln w="0">
      <a:solidFill>
        <a:srgbClr val="FFFFFF"/>
      </a:solidFill>
      <a:prstDash val="solid"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AAE8A-533B-628C-5071-8451D9544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65259B-8221-8ECD-4DC5-F6C29274A1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BD8D17-5D1C-E65B-BF3F-0B2F5B4398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9FA8CE-4EA7-95AE-03B0-85821F8D9B95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127281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ver-blue-field">
            <a:extLst>
              <a:ext uri="{FF2B5EF4-FFF2-40B4-BE49-F238E27FC236}">
                <a16:creationId xmlns:a16="http://schemas.microsoft.com/office/drawing/2014/main" id="{F50A0D39-A7A3-4649-9CF9-AB7FCB934DD7}"/>
              </a:ext>
            </a:extLst>
          </p:cNvPr>
          <p:cNvSpPr>
            <a:spLocks noGrp="1"/>
          </p:cNvSpPr>
          <p:nvPr/>
        </p:nvSpPr>
        <p:spPr>
          <a:xfrm>
            <a:off x="7848600" y="0"/>
            <a:ext cx="4343400" cy="6858000"/>
          </a:xfrm>
          <a:prstGeom prst="rect">
            <a:avLst/>
          </a:prstGeom>
          <a:solidFill>
            <a:srgbClr val="EAF6FC"/>
          </a:solidFill>
          <a:ln w="0">
            <a:solidFill>
              <a:srgbClr val="EAF6F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cover-accent">
            <a:extLst>
              <a:ext uri="{FF2B5EF4-FFF2-40B4-BE49-F238E27FC236}">
                <a16:creationId xmlns:a16="http://schemas.microsoft.com/office/drawing/2014/main" id="{241126B2-DAED-4F87-BE40-A1059803C12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05EA8"/>
          </a:solidFill>
          <a:ln w="0">
            <a:solidFill>
              <a:srgbClr val="005EA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cover-kicker">
            <a:extLst>
              <a:ext uri="{FF2B5EF4-FFF2-40B4-BE49-F238E27FC236}">
                <a16:creationId xmlns:a16="http://schemas.microsoft.com/office/drawing/2014/main" id="{CEBE882E-D079-4B73-9AE1-5EB7FA8AA4E1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590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00" b="1">
                <a:solidFill>
                  <a:srgbClr val="005EA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005EA8"/>
                </a:solidFill>
                <a:latin typeface="Microsoft JhengHei"/>
                <a:ea typeface="Microsoft JhengHei"/>
                <a:cs typeface="Microsoft JhengHei"/>
              </a:rPr>
              <a:t>MEDICAL BIG DATA HACKATHON</a:t>
            </a:r>
          </a:p>
        </p:txBody>
      </p:sp>
      <p:sp>
        <p:nvSpPr>
          <p:cNvPr id="4" name="cover-title">
            <a:extLst>
              <a:ext uri="{FF2B5EF4-FFF2-40B4-BE49-F238E27FC236}">
                <a16:creationId xmlns:a16="http://schemas.microsoft.com/office/drawing/2014/main" id="{62EAC3A8-DAAE-4087-A27D-6E52074B29E7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66675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51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1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GDC Lung Cancer</a:t>
            </a:r>
          </a:p>
          <a:p>
            <a:pPr algn="l">
              <a:defRPr sz="51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1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Dataset Scout</a:t>
            </a:r>
          </a:p>
        </p:txBody>
      </p:sp>
      <p:sp>
        <p:nvSpPr>
          <p:cNvPr id="5" name="cover-subtitle">
            <a:extLst>
              <a:ext uri="{FF2B5EF4-FFF2-40B4-BE49-F238E27FC236}">
                <a16:creationId xmlns:a16="http://schemas.microsoft.com/office/drawing/2014/main" id="{7947C040-DEE6-42E1-B3B5-62ACBB88682C}"/>
              </a:ext>
            </a:extLst>
          </p:cNvPr>
          <p:cNvSpPr>
            <a:spLocks noGrp="1"/>
          </p:cNvSpPr>
          <p:nvPr/>
        </p:nvSpPr>
        <p:spPr>
          <a:xfrm>
            <a:off x="647700" y="3919076"/>
            <a:ext cx="2744429" cy="96294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lnSpcReduction="10000"/>
          </a:bodyPr>
          <a:lstStyle/>
          <a:p>
            <a:pPr algn="l">
              <a:defRPr sz="21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en-US" altLang="zh-TW" sz="2100" b="0" dirty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P86154181</a:t>
            </a:r>
            <a:r>
              <a:rPr lang="zh-TW" altLang="en-US" sz="2100" b="0" dirty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 陳聖泰</a:t>
            </a:r>
            <a:endParaRPr lang="en-US" altLang="zh-TW" sz="2100" b="0" dirty="0">
              <a:solidFill>
                <a:srgbClr val="5B6472"/>
              </a:solidFill>
              <a:latin typeface="Microsoft JhengHei"/>
              <a:ea typeface="Microsoft JhengHei"/>
              <a:cs typeface="Microsoft JhengHei"/>
            </a:endParaRPr>
          </a:p>
          <a:p>
            <a:pPr>
              <a:defRPr sz="21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en-US" altLang="zh-TW" sz="2100" dirty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L66144236 </a:t>
            </a:r>
            <a:r>
              <a:rPr lang="zh-TW" altLang="en-US" sz="2100" dirty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曾得硯</a:t>
            </a:r>
            <a:endParaRPr lang="en-US" altLang="zh-TW" sz="2100" b="0" dirty="0">
              <a:solidFill>
                <a:srgbClr val="5B6472"/>
              </a:solidFill>
              <a:latin typeface="Microsoft JhengHei"/>
              <a:ea typeface="Microsoft JhengHei"/>
              <a:cs typeface="Microsoft JhengHei"/>
            </a:endParaRPr>
          </a:p>
          <a:p>
            <a:pPr algn="l">
              <a:defRPr sz="21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en-US" altLang="zh-TW" sz="2100" b="0" dirty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E14102119</a:t>
            </a:r>
            <a:r>
              <a:rPr lang="zh-TW" altLang="en-US" sz="2100" b="0" dirty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 陳翊家</a:t>
            </a:r>
            <a:endParaRPr sz="2100" b="0" dirty="0">
              <a:solidFill>
                <a:srgbClr val="5B6472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6" name="rule-68-500">
            <a:extLst>
              <a:ext uri="{FF2B5EF4-FFF2-40B4-BE49-F238E27FC236}">
                <a16:creationId xmlns:a16="http://schemas.microsoft.com/office/drawing/2014/main" id="{6B88B6A9-D621-4C1F-B903-E6F2909F4240}"/>
              </a:ext>
            </a:extLst>
          </p:cNvPr>
          <p:cNvSpPr>
            <a:spLocks noGrp="1"/>
          </p:cNvSpPr>
          <p:nvPr/>
        </p:nvSpPr>
        <p:spPr>
          <a:xfrm>
            <a:off x="723900" y="5758784"/>
            <a:ext cx="5905500" cy="47625"/>
          </a:xfrm>
          <a:prstGeom prst="rect">
            <a:avLst/>
          </a:prstGeom>
          <a:solidFill>
            <a:srgbClr val="6DCBF4"/>
          </a:solidFill>
          <a:ln w="0">
            <a:solidFill>
              <a:srgbClr val="6DCBF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cover-meta">
            <a:extLst>
              <a:ext uri="{FF2B5EF4-FFF2-40B4-BE49-F238E27FC236}">
                <a16:creationId xmlns:a16="http://schemas.microsoft.com/office/drawing/2014/main" id="{A38DFAF6-EB54-4C90-868A-B8C02DE5ABBB}"/>
              </a:ext>
            </a:extLst>
          </p:cNvPr>
          <p:cNvSpPr>
            <a:spLocks noGrp="1"/>
          </p:cNvSpPr>
          <p:nvPr/>
        </p:nvSpPr>
        <p:spPr>
          <a:xfrm>
            <a:off x="647700" y="5842512"/>
            <a:ext cx="619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924" lnSpcReduction="10000"/>
          </a:bodyPr>
          <a:lstStyle/>
          <a:p>
            <a:pPr algn="l">
              <a:defRPr sz="1650" b="1">
                <a:solidFill>
                  <a:srgbClr val="005EA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 dirty="0">
                <a:solidFill>
                  <a:srgbClr val="005EA8"/>
                </a:solidFill>
                <a:latin typeface="Microsoft JhengHei"/>
                <a:ea typeface="Microsoft JhengHei"/>
                <a:cs typeface="Microsoft JhengHei"/>
              </a:rPr>
              <a:t>TCGA-LUAD  ·  TCGA-LUSC  ·  5-minute demo</a:t>
            </a:r>
          </a:p>
        </p:txBody>
      </p:sp>
      <p:sp>
        <p:nvSpPr>
          <p:cNvPr id="8" name="cover-gdc">
            <a:extLst>
              <a:ext uri="{FF2B5EF4-FFF2-40B4-BE49-F238E27FC236}">
                <a16:creationId xmlns:a16="http://schemas.microsoft.com/office/drawing/2014/main" id="{538B027F-5220-4AFC-B7D9-8C84A040E025}"/>
              </a:ext>
            </a:extLst>
          </p:cNvPr>
          <p:cNvSpPr>
            <a:spLocks noGrp="1"/>
          </p:cNvSpPr>
          <p:nvPr/>
        </p:nvSpPr>
        <p:spPr>
          <a:xfrm>
            <a:off x="8020050" y="1428750"/>
            <a:ext cx="381000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10650" b="1">
                <a:solidFill>
                  <a:srgbClr val="005EA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650" b="1">
                <a:solidFill>
                  <a:srgbClr val="005EA8"/>
                </a:solidFill>
                <a:latin typeface="Microsoft JhengHei"/>
                <a:ea typeface="Microsoft JhengHei"/>
                <a:cs typeface="Microsoft JhengHei"/>
              </a:rPr>
              <a:t>GDC</a:t>
            </a:r>
          </a:p>
        </p:txBody>
      </p:sp>
      <p:sp>
        <p:nvSpPr>
          <p:cNvPr id="9" name="cover-projects">
            <a:extLst>
              <a:ext uri="{FF2B5EF4-FFF2-40B4-BE49-F238E27FC236}">
                <a16:creationId xmlns:a16="http://schemas.microsoft.com/office/drawing/2014/main" id="{6A22940E-DE99-4734-A644-8E766BE579F8}"/>
              </a:ext>
            </a:extLst>
          </p:cNvPr>
          <p:cNvSpPr>
            <a:spLocks noGrp="1"/>
          </p:cNvSpPr>
          <p:nvPr/>
        </p:nvSpPr>
        <p:spPr>
          <a:xfrm>
            <a:off x="8572500" y="3714750"/>
            <a:ext cx="2667000" cy="1371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3600" b="1">
                <a:solidFill>
                  <a:srgbClr val="1877C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1877C9"/>
                </a:solidFill>
                <a:latin typeface="Microsoft JhengHei"/>
                <a:ea typeface="Microsoft JhengHei"/>
                <a:cs typeface="Microsoft JhengHei"/>
              </a:rPr>
              <a:t>LUAD</a:t>
            </a:r>
          </a:p>
          <a:p>
            <a:pPr algn="ctr">
              <a:defRPr sz="3600" b="1">
                <a:solidFill>
                  <a:srgbClr val="1877C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1877C9"/>
                </a:solidFill>
                <a:latin typeface="Microsoft JhengHei"/>
                <a:ea typeface="Microsoft JhengHei"/>
                <a:cs typeface="Microsoft JhengHei"/>
              </a:rPr>
              <a:t>LUSC</a:t>
            </a:r>
          </a:p>
        </p:txBody>
      </p:sp>
      <p:sp>
        <p:nvSpPr>
          <p:cNvPr id="13" name="cover-subtitle">
            <a:extLst>
              <a:ext uri="{FF2B5EF4-FFF2-40B4-BE49-F238E27FC236}">
                <a16:creationId xmlns:a16="http://schemas.microsoft.com/office/drawing/2014/main" id="{6491834C-B415-D9CF-CFC2-49A865136C18}"/>
              </a:ext>
            </a:extLst>
          </p:cNvPr>
          <p:cNvSpPr>
            <a:spLocks noGrp="1"/>
          </p:cNvSpPr>
          <p:nvPr/>
        </p:nvSpPr>
        <p:spPr>
          <a:xfrm>
            <a:off x="647700" y="2938924"/>
            <a:ext cx="6286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1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 dirty="0" err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用可追溯</a:t>
            </a:r>
            <a:r>
              <a:rPr sz="2100" b="0" dirty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2100" b="0" dirty="0" err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metadata，判斷</a:t>
            </a:r>
            <a:r>
              <a:rPr sz="2100" b="0" dirty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 stage-survival </a:t>
            </a:r>
            <a:r>
              <a:rPr sz="2100" b="0" dirty="0" err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研究是否可行</a:t>
            </a:r>
            <a:endParaRPr sz="2100" b="0" dirty="0">
              <a:solidFill>
                <a:srgbClr val="5B6472"/>
              </a:solidFill>
              <a:latin typeface="Microsoft JhengHei"/>
              <a:ea typeface="Microsoft JhengHei"/>
              <a:cs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7098291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yebrow-2">
            <a:extLst>
              <a:ext uri="{FF2B5EF4-FFF2-40B4-BE49-F238E27FC236}">
                <a16:creationId xmlns:a16="http://schemas.microsoft.com/office/drawing/2014/main" id="{3EE06FA8-3F8E-4EDD-8972-C5A8285C4359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3214" lnSpcReduction="10000"/>
          </a:bodyPr>
          <a:lstStyle/>
          <a:p>
            <a:pPr algn="l">
              <a:defRPr sz="1050" b="1">
                <a:solidFill>
                  <a:srgbClr val="005EA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005EA8"/>
                </a:solidFill>
                <a:latin typeface="Microsoft JhengHei"/>
                <a:ea typeface="Microsoft JhengHei"/>
                <a:cs typeface="Microsoft JhengHei"/>
              </a:rPr>
              <a:t>01 · PROBLEM</a:t>
            </a:r>
          </a:p>
        </p:txBody>
      </p:sp>
      <p:sp>
        <p:nvSpPr>
          <p:cNvPr id="2" name="title-2">
            <a:extLst>
              <a:ext uri="{FF2B5EF4-FFF2-40B4-BE49-F238E27FC236}">
                <a16:creationId xmlns:a16="http://schemas.microsoft.com/office/drawing/2014/main" id="{906702B7-04F0-43F3-B3FF-E6BC94E6D1A8}"/>
              </a:ext>
            </a:extLst>
          </p:cNvPr>
          <p:cNvSpPr>
            <a:spLocks noGrp="1"/>
          </p:cNvSpPr>
          <p:nvPr/>
        </p:nvSpPr>
        <p:spPr>
          <a:xfrm>
            <a:off x="533400" y="685800"/>
            <a:ext cx="107632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36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先回答資料能不能用，再談 survival analysis</a:t>
            </a:r>
          </a:p>
        </p:txBody>
      </p:sp>
      <p:sp>
        <p:nvSpPr>
          <p:cNvPr id="3" name="page-2">
            <a:extLst>
              <a:ext uri="{FF2B5EF4-FFF2-40B4-BE49-F238E27FC236}">
                <a16:creationId xmlns:a16="http://schemas.microsoft.com/office/drawing/2014/main" id="{4044901D-2255-4109-8C96-2270465F5205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419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6667" lnSpcReduction="10000"/>
          </a:bodyPr>
          <a:lstStyle/>
          <a:p>
            <a:pPr algn="r">
              <a:defRPr sz="9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4" name="problem-question">
            <a:extLst>
              <a:ext uri="{FF2B5EF4-FFF2-40B4-BE49-F238E27FC236}">
                <a16:creationId xmlns:a16="http://schemas.microsoft.com/office/drawing/2014/main" id="{F321342D-C4DD-460F-993C-08201B35D1B6}"/>
              </a:ext>
            </a:extLst>
          </p:cNvPr>
          <p:cNvSpPr>
            <a:spLocks noGrp="1"/>
          </p:cNvSpPr>
          <p:nvPr/>
        </p:nvSpPr>
        <p:spPr>
          <a:xfrm>
            <a:off x="666750" y="1809750"/>
            <a:ext cx="781050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33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LUAD 與 LUSC 的公開 metadata，是否具備 stage、survival endpoint 與清楚的存取條件？</a:t>
            </a:r>
          </a:p>
        </p:txBody>
      </p:sp>
      <p:sp>
        <p:nvSpPr>
          <p:cNvPr id="5" name="boundary-panel">
            <a:extLst>
              <a:ext uri="{FF2B5EF4-FFF2-40B4-BE49-F238E27FC236}">
                <a16:creationId xmlns:a16="http://schemas.microsoft.com/office/drawing/2014/main" id="{F92EEC18-B33C-43FF-9DE1-5725E0692F0F}"/>
              </a:ext>
            </a:extLst>
          </p:cNvPr>
          <p:cNvSpPr>
            <a:spLocks noGrp="1"/>
          </p:cNvSpPr>
          <p:nvPr/>
        </p:nvSpPr>
        <p:spPr>
          <a:xfrm>
            <a:off x="8896350" y="1676400"/>
            <a:ext cx="2724150" cy="3333750"/>
          </a:xfrm>
          <a:prstGeom prst="roundRect">
            <a:avLst>
              <a:gd name="adj" fmla="val 2797"/>
            </a:avLst>
          </a:prstGeom>
          <a:solidFill>
            <a:srgbClr val="EAF6FC"/>
          </a:solidFill>
          <a:ln w="19050">
            <a:solidFill>
              <a:srgbClr val="6DCBF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boundary-title">
            <a:extLst>
              <a:ext uri="{FF2B5EF4-FFF2-40B4-BE49-F238E27FC236}">
                <a16:creationId xmlns:a16="http://schemas.microsoft.com/office/drawing/2014/main" id="{A4E01BAC-FC73-4177-8D0C-E11A297DD4AA}"/>
              </a:ext>
            </a:extLst>
          </p:cNvPr>
          <p:cNvSpPr>
            <a:spLocks noGrp="1"/>
          </p:cNvSpPr>
          <p:nvPr/>
        </p:nvSpPr>
        <p:spPr>
          <a:xfrm>
            <a:off x="9239250" y="2000250"/>
            <a:ext cx="2000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7083" lnSpcReduction="10000"/>
          </a:bodyPr>
          <a:lstStyle/>
          <a:p>
            <a:pPr algn="l">
              <a:defRPr sz="2400" b="1">
                <a:solidFill>
                  <a:srgbClr val="005EA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005EA8"/>
                </a:solidFill>
                <a:latin typeface="Microsoft JhengHei"/>
                <a:ea typeface="Microsoft JhengHei"/>
                <a:cs typeface="Microsoft JhengHei"/>
              </a:rPr>
              <a:t>安全邊界</a:t>
            </a:r>
          </a:p>
        </p:txBody>
      </p:sp>
      <p:sp>
        <p:nvSpPr>
          <p:cNvPr id="7" name="boundary-1">
            <a:extLst>
              <a:ext uri="{FF2B5EF4-FFF2-40B4-BE49-F238E27FC236}">
                <a16:creationId xmlns:a16="http://schemas.microsoft.com/office/drawing/2014/main" id="{EA6D3255-5E6B-45E8-AAD9-4FBC501C65AB}"/>
              </a:ext>
            </a:extLst>
          </p:cNvPr>
          <p:cNvSpPr>
            <a:spLocks noGrp="1"/>
          </p:cNvSpPr>
          <p:nvPr/>
        </p:nvSpPr>
        <p:spPr>
          <a:xfrm>
            <a:off x="9239250" y="2762250"/>
            <a:ext cx="2095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0175"/>
          </a:bodyPr>
          <a:lstStyle/>
          <a:p>
            <a:pPr algn="l">
              <a:defRPr sz="16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✓ 只查公開 metadata</a:t>
            </a:r>
          </a:p>
        </p:txBody>
      </p:sp>
      <p:sp>
        <p:nvSpPr>
          <p:cNvPr id="8" name="boundary-2">
            <a:extLst>
              <a:ext uri="{FF2B5EF4-FFF2-40B4-BE49-F238E27FC236}">
                <a16:creationId xmlns:a16="http://schemas.microsoft.com/office/drawing/2014/main" id="{A7B065C6-DF56-4BD1-AB12-44860E7258E9}"/>
              </a:ext>
            </a:extLst>
          </p:cNvPr>
          <p:cNvSpPr>
            <a:spLocks noGrp="1"/>
          </p:cNvSpPr>
          <p:nvPr/>
        </p:nvSpPr>
        <p:spPr>
          <a:xfrm>
            <a:off x="9239250" y="3352800"/>
            <a:ext cx="2095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5184"/>
          </a:bodyPr>
          <a:lstStyle/>
          <a:p>
            <a:pPr algn="l">
              <a:defRPr sz="16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✓ 評估欄位與 access</a:t>
            </a:r>
          </a:p>
        </p:txBody>
      </p:sp>
      <p:sp>
        <p:nvSpPr>
          <p:cNvPr id="9" name="boundary-3">
            <a:extLst>
              <a:ext uri="{FF2B5EF4-FFF2-40B4-BE49-F238E27FC236}">
                <a16:creationId xmlns:a16="http://schemas.microsoft.com/office/drawing/2014/main" id="{A2D36475-B783-4F25-B0BF-08B65C749CA8}"/>
              </a:ext>
            </a:extLst>
          </p:cNvPr>
          <p:cNvSpPr>
            <a:spLocks noGrp="1"/>
          </p:cNvSpPr>
          <p:nvPr/>
        </p:nvSpPr>
        <p:spPr>
          <a:xfrm>
            <a:off x="9239250" y="3943350"/>
            <a:ext cx="2095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650" b="1">
                <a:solidFill>
                  <a:srgbClr val="C445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C44536"/>
                </a:solidFill>
                <a:latin typeface="Microsoft JhengHei"/>
                <a:ea typeface="Microsoft JhengHei"/>
                <a:cs typeface="Microsoft JhengHei"/>
              </a:rPr>
              <a:t>× 不做預後比較</a:t>
            </a:r>
          </a:p>
        </p:txBody>
      </p:sp>
      <p:sp>
        <p:nvSpPr>
          <p:cNvPr id="10" name="boundary-4">
            <a:extLst>
              <a:ext uri="{FF2B5EF4-FFF2-40B4-BE49-F238E27FC236}">
                <a16:creationId xmlns:a16="http://schemas.microsoft.com/office/drawing/2014/main" id="{5B71D3E6-6BBE-492C-9FA5-3437F0494C46}"/>
              </a:ext>
            </a:extLst>
          </p:cNvPr>
          <p:cNvSpPr>
            <a:spLocks noGrp="1"/>
          </p:cNvSpPr>
          <p:nvPr/>
        </p:nvSpPr>
        <p:spPr>
          <a:xfrm>
            <a:off x="9239250" y="4533900"/>
            <a:ext cx="2095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650" b="1">
                <a:solidFill>
                  <a:srgbClr val="C445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C44536"/>
                </a:solidFill>
                <a:latin typeface="Microsoft JhengHei"/>
                <a:ea typeface="Microsoft JhengHei"/>
                <a:cs typeface="Microsoft JhengHei"/>
              </a:rPr>
              <a:t>× 不產生臨床建議</a:t>
            </a:r>
          </a:p>
        </p:txBody>
      </p:sp>
      <p:sp>
        <p:nvSpPr>
          <p:cNvPr id="11" name="rule-70-434">
            <a:extLst>
              <a:ext uri="{FF2B5EF4-FFF2-40B4-BE49-F238E27FC236}">
                <a16:creationId xmlns:a16="http://schemas.microsoft.com/office/drawing/2014/main" id="{3963159C-7CAC-4DD3-AA38-CA1B545437A0}"/>
              </a:ext>
            </a:extLst>
          </p:cNvPr>
          <p:cNvSpPr>
            <a:spLocks noGrp="1"/>
          </p:cNvSpPr>
          <p:nvPr/>
        </p:nvSpPr>
        <p:spPr>
          <a:xfrm>
            <a:off x="666750" y="4133850"/>
            <a:ext cx="7429500" cy="19050"/>
          </a:xfrm>
          <a:prstGeom prst="rect">
            <a:avLst/>
          </a:prstGeom>
          <a:solidFill>
            <a:srgbClr val="B8C0CA"/>
          </a:solidFill>
          <a:ln w="0">
            <a:solidFill>
              <a:srgbClr val="B8C0C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problem-takeaway">
            <a:extLst>
              <a:ext uri="{FF2B5EF4-FFF2-40B4-BE49-F238E27FC236}">
                <a16:creationId xmlns:a16="http://schemas.microsoft.com/office/drawing/2014/main" id="{D0D37090-71AC-4A1A-BC32-74C5EE3648D5}"/>
              </a:ext>
            </a:extLst>
          </p:cNvPr>
          <p:cNvSpPr>
            <a:spLocks noGrp="1"/>
          </p:cNvSpPr>
          <p:nvPr/>
        </p:nvSpPr>
        <p:spPr>
          <a:xfrm>
            <a:off x="666750" y="4495800"/>
            <a:ext cx="75247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100" b="1">
                <a:solidFill>
                  <a:srgbClr val="005EA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05EA8"/>
                </a:solidFill>
                <a:latin typeface="Microsoft JhengHei"/>
                <a:ea typeface="Microsoft JhengHei"/>
                <a:cs typeface="Microsoft JhengHei"/>
              </a:rPr>
              <a:t>一個下午的 MVP：比較 2 個 cohort，輸出可檢查的 dataset fitness 結論。</a:t>
            </a:r>
          </a:p>
        </p:txBody>
      </p:sp>
      <p:sp>
        <p:nvSpPr>
          <p:cNvPr id="13" name="source-Scope: R">
            <a:extLst>
              <a:ext uri="{FF2B5EF4-FFF2-40B4-BE49-F238E27FC236}">
                <a16:creationId xmlns:a16="http://schemas.microsoft.com/office/drawing/2014/main" id="{8D1622A1-4F51-4F7D-8EA9-EB93D9D969D6}"/>
              </a:ext>
            </a:extLst>
          </p:cNvPr>
          <p:cNvSpPr>
            <a:spLocks noGrp="1"/>
          </p:cNvSpPr>
          <p:nvPr/>
        </p:nvSpPr>
        <p:spPr>
          <a:xfrm>
            <a:off x="533400" y="6334125"/>
            <a:ext cx="1028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9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Scope: README.md + configs/task_spec.yaml</a:t>
            </a:r>
          </a:p>
        </p:txBody>
      </p:sp>
    </p:spTree>
    <p:extLst>
      <p:ext uri="{BB962C8B-B14F-4D97-AF65-F5344CB8AC3E}">
        <p14:creationId xmlns:p14="http://schemas.microsoft.com/office/powerpoint/2010/main" val="1511884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eyebrow-3">
            <a:extLst>
              <a:ext uri="{FF2B5EF4-FFF2-40B4-BE49-F238E27FC236}">
                <a16:creationId xmlns:a16="http://schemas.microsoft.com/office/drawing/2014/main" id="{4F121366-AFB5-4FFC-AAF9-5AF2B487F40B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3214" lnSpcReduction="10000"/>
          </a:bodyPr>
          <a:lstStyle/>
          <a:p>
            <a:pPr algn="l">
              <a:defRPr sz="1050" b="1">
                <a:solidFill>
                  <a:srgbClr val="005EA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005EA8"/>
                </a:solidFill>
                <a:latin typeface="Microsoft JhengHei"/>
                <a:ea typeface="Microsoft JhengHei"/>
                <a:cs typeface="Microsoft JhengHei"/>
              </a:rPr>
              <a:t>02 · WORKFLOW</a:t>
            </a:r>
          </a:p>
        </p:txBody>
      </p:sp>
      <p:sp>
        <p:nvSpPr>
          <p:cNvPr id="2" name="title-3">
            <a:extLst>
              <a:ext uri="{FF2B5EF4-FFF2-40B4-BE49-F238E27FC236}">
                <a16:creationId xmlns:a16="http://schemas.microsoft.com/office/drawing/2014/main" id="{B1FFD7D9-220D-4026-B88E-10662D393C2F}"/>
              </a:ext>
            </a:extLst>
          </p:cNvPr>
          <p:cNvSpPr>
            <a:spLocks noGrp="1"/>
          </p:cNvSpPr>
          <p:nvPr/>
        </p:nvSpPr>
        <p:spPr>
          <a:xfrm>
            <a:off x="533400" y="685800"/>
            <a:ext cx="107632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36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一條可檢查的路徑，從問題走到 artifacts</a:t>
            </a:r>
          </a:p>
        </p:txBody>
      </p:sp>
      <p:sp>
        <p:nvSpPr>
          <p:cNvPr id="3" name="page-3">
            <a:extLst>
              <a:ext uri="{FF2B5EF4-FFF2-40B4-BE49-F238E27FC236}">
                <a16:creationId xmlns:a16="http://schemas.microsoft.com/office/drawing/2014/main" id="{396F996C-5CD2-4FBC-8017-F581BF966E20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419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1667" lnSpcReduction="20000"/>
          </a:bodyPr>
          <a:lstStyle/>
          <a:p>
            <a:pPr algn="r">
              <a:defRPr sz="9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4" name="workflow-arrow-0">
            <a:extLst>
              <a:ext uri="{FF2B5EF4-FFF2-40B4-BE49-F238E27FC236}">
                <a16:creationId xmlns:a16="http://schemas.microsoft.com/office/drawing/2014/main" id="{1FBAFB68-E369-4392-96E3-E28EF2489BA1}"/>
              </a:ext>
            </a:extLst>
          </p:cNvPr>
          <p:cNvSpPr>
            <a:spLocks noGrp="1"/>
          </p:cNvSpPr>
          <p:nvPr/>
        </p:nvSpPr>
        <p:spPr>
          <a:xfrm>
            <a:off x="1905000" y="2686050"/>
            <a:ext cx="514350" cy="266700"/>
          </a:xfrm>
          <a:prstGeom prst="rightArrow">
            <a:avLst/>
          </a:prstGeom>
          <a:solidFill>
            <a:srgbClr val="6DCBF4"/>
          </a:solidFill>
          <a:ln w="0">
            <a:solidFill>
              <a:srgbClr val="6DCBF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workflow-arrow-1">
            <a:extLst>
              <a:ext uri="{FF2B5EF4-FFF2-40B4-BE49-F238E27FC236}">
                <a16:creationId xmlns:a16="http://schemas.microsoft.com/office/drawing/2014/main" id="{28BD0AB7-5C22-4142-8D3B-11D55BAB3098}"/>
              </a:ext>
            </a:extLst>
          </p:cNvPr>
          <p:cNvSpPr>
            <a:spLocks noGrp="1"/>
          </p:cNvSpPr>
          <p:nvPr/>
        </p:nvSpPr>
        <p:spPr>
          <a:xfrm>
            <a:off x="3848100" y="2686050"/>
            <a:ext cx="514350" cy="266700"/>
          </a:xfrm>
          <a:prstGeom prst="rightArrow">
            <a:avLst/>
          </a:prstGeom>
          <a:solidFill>
            <a:srgbClr val="6DCBF4"/>
          </a:solidFill>
          <a:ln w="0">
            <a:solidFill>
              <a:srgbClr val="6DCBF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workflow-arrow-2">
            <a:extLst>
              <a:ext uri="{FF2B5EF4-FFF2-40B4-BE49-F238E27FC236}">
                <a16:creationId xmlns:a16="http://schemas.microsoft.com/office/drawing/2014/main" id="{06068E47-7E08-47AD-B5A1-978E38345C11}"/>
              </a:ext>
            </a:extLst>
          </p:cNvPr>
          <p:cNvSpPr>
            <a:spLocks noGrp="1"/>
          </p:cNvSpPr>
          <p:nvPr/>
        </p:nvSpPr>
        <p:spPr>
          <a:xfrm>
            <a:off x="5791200" y="2686050"/>
            <a:ext cx="514350" cy="266700"/>
          </a:xfrm>
          <a:prstGeom prst="rightArrow">
            <a:avLst/>
          </a:prstGeom>
          <a:solidFill>
            <a:srgbClr val="6DCBF4"/>
          </a:solidFill>
          <a:ln w="0">
            <a:solidFill>
              <a:srgbClr val="6DCBF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workflow-arrow-3">
            <a:extLst>
              <a:ext uri="{FF2B5EF4-FFF2-40B4-BE49-F238E27FC236}">
                <a16:creationId xmlns:a16="http://schemas.microsoft.com/office/drawing/2014/main" id="{53CA2E7A-F0D1-4AE0-BEED-2423B716F651}"/>
              </a:ext>
            </a:extLst>
          </p:cNvPr>
          <p:cNvSpPr>
            <a:spLocks noGrp="1"/>
          </p:cNvSpPr>
          <p:nvPr/>
        </p:nvSpPr>
        <p:spPr>
          <a:xfrm>
            <a:off x="7734300" y="2686050"/>
            <a:ext cx="514350" cy="266700"/>
          </a:xfrm>
          <a:prstGeom prst="rightArrow">
            <a:avLst/>
          </a:prstGeom>
          <a:solidFill>
            <a:srgbClr val="6DCBF4"/>
          </a:solidFill>
          <a:ln w="0">
            <a:solidFill>
              <a:srgbClr val="6DCBF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workflow-arrow-4">
            <a:extLst>
              <a:ext uri="{FF2B5EF4-FFF2-40B4-BE49-F238E27FC236}">
                <a16:creationId xmlns:a16="http://schemas.microsoft.com/office/drawing/2014/main" id="{FB29C115-FE8B-4022-ACBC-836B306050A3}"/>
              </a:ext>
            </a:extLst>
          </p:cNvPr>
          <p:cNvSpPr>
            <a:spLocks noGrp="1"/>
          </p:cNvSpPr>
          <p:nvPr/>
        </p:nvSpPr>
        <p:spPr>
          <a:xfrm>
            <a:off x="9677400" y="2686050"/>
            <a:ext cx="514350" cy="266700"/>
          </a:xfrm>
          <a:prstGeom prst="rightArrow">
            <a:avLst/>
          </a:prstGeom>
          <a:solidFill>
            <a:srgbClr val="6DCBF4"/>
          </a:solidFill>
          <a:ln w="0">
            <a:solidFill>
              <a:srgbClr val="6DCBF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workflow-node-0">
            <a:extLst>
              <a:ext uri="{FF2B5EF4-FFF2-40B4-BE49-F238E27FC236}">
                <a16:creationId xmlns:a16="http://schemas.microsoft.com/office/drawing/2014/main" id="{230ED0C9-5843-469B-8785-8D65A837FD2A}"/>
              </a:ext>
            </a:extLst>
          </p:cNvPr>
          <p:cNvSpPr>
            <a:spLocks noGrp="1"/>
          </p:cNvSpPr>
          <p:nvPr/>
        </p:nvSpPr>
        <p:spPr>
          <a:xfrm>
            <a:off x="438150" y="2152650"/>
            <a:ext cx="1504950" cy="1447800"/>
          </a:xfrm>
          <a:prstGeom prst="roundRect">
            <a:avLst>
              <a:gd name="adj" fmla="val 5263"/>
            </a:avLst>
          </a:prstGeom>
          <a:solidFill>
            <a:srgbClr val="F1F3F5"/>
          </a:solidFill>
          <a:ln w="9525">
            <a:solidFill>
              <a:srgbClr val="B8C0C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workflow-label-0">
            <a:extLst>
              <a:ext uri="{FF2B5EF4-FFF2-40B4-BE49-F238E27FC236}">
                <a16:creationId xmlns:a16="http://schemas.microsoft.com/office/drawing/2014/main" id="{39056806-F190-483B-B3DE-5C337DAC3337}"/>
              </a:ext>
            </a:extLst>
          </p:cNvPr>
          <p:cNvSpPr>
            <a:spLocks noGrp="1"/>
          </p:cNvSpPr>
          <p:nvPr/>
        </p:nvSpPr>
        <p:spPr>
          <a:xfrm>
            <a:off x="590550" y="2362200"/>
            <a:ext cx="1200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3214" lnSpcReduction="10000"/>
          </a:bodyPr>
          <a:lstStyle/>
          <a:p>
            <a:pPr algn="ctr">
              <a:defRPr sz="1050" b="1">
                <a:solidFill>
                  <a:srgbClr val="005EA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005EA8"/>
                </a:solidFill>
                <a:latin typeface="Microsoft JhengHei"/>
                <a:ea typeface="Microsoft JhengHei"/>
                <a:cs typeface="Microsoft JhengHei"/>
              </a:rPr>
              <a:t>INPUT</a:t>
            </a:r>
          </a:p>
        </p:txBody>
      </p:sp>
      <p:sp>
        <p:nvSpPr>
          <p:cNvPr id="11" name="workflow-body-0">
            <a:extLst>
              <a:ext uri="{FF2B5EF4-FFF2-40B4-BE49-F238E27FC236}">
                <a16:creationId xmlns:a16="http://schemas.microsoft.com/office/drawing/2014/main" id="{3FB629BC-BCEF-40E0-B801-24CC0ACDD7DC}"/>
              </a:ext>
            </a:extLst>
          </p:cNvPr>
          <p:cNvSpPr>
            <a:spLocks noGrp="1"/>
          </p:cNvSpPr>
          <p:nvPr/>
        </p:nvSpPr>
        <p:spPr>
          <a:xfrm>
            <a:off x="552450" y="2724150"/>
            <a:ext cx="12763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6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研究問題</a:t>
            </a:r>
          </a:p>
        </p:txBody>
      </p:sp>
      <p:sp>
        <p:nvSpPr>
          <p:cNvPr id="12" name="workflow-node-1">
            <a:extLst>
              <a:ext uri="{FF2B5EF4-FFF2-40B4-BE49-F238E27FC236}">
                <a16:creationId xmlns:a16="http://schemas.microsoft.com/office/drawing/2014/main" id="{A66D6166-91DE-4C7D-A8DF-046D68F4C4B9}"/>
              </a:ext>
            </a:extLst>
          </p:cNvPr>
          <p:cNvSpPr>
            <a:spLocks noGrp="1"/>
          </p:cNvSpPr>
          <p:nvPr/>
        </p:nvSpPr>
        <p:spPr>
          <a:xfrm>
            <a:off x="2381250" y="2152650"/>
            <a:ext cx="1504950" cy="1447800"/>
          </a:xfrm>
          <a:prstGeom prst="roundRect">
            <a:avLst>
              <a:gd name="adj" fmla="val 5263"/>
            </a:avLst>
          </a:prstGeom>
          <a:solidFill>
            <a:srgbClr val="F1F3F5"/>
          </a:solidFill>
          <a:ln w="9525">
            <a:solidFill>
              <a:srgbClr val="B8C0C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workflow-label-1">
            <a:extLst>
              <a:ext uri="{FF2B5EF4-FFF2-40B4-BE49-F238E27FC236}">
                <a16:creationId xmlns:a16="http://schemas.microsoft.com/office/drawing/2014/main" id="{956FA13D-187E-455D-A3E9-871A17D3C779}"/>
              </a:ext>
            </a:extLst>
          </p:cNvPr>
          <p:cNvSpPr>
            <a:spLocks noGrp="1"/>
          </p:cNvSpPr>
          <p:nvPr/>
        </p:nvSpPr>
        <p:spPr>
          <a:xfrm>
            <a:off x="2533650" y="2362200"/>
            <a:ext cx="1200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3214" lnSpcReduction="10000"/>
          </a:bodyPr>
          <a:lstStyle/>
          <a:p>
            <a:pPr algn="ctr">
              <a:defRPr sz="1050" b="1">
                <a:solidFill>
                  <a:srgbClr val="005EA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005EA8"/>
                </a:solidFill>
                <a:latin typeface="Microsoft JhengHei"/>
                <a:ea typeface="Microsoft JhengHei"/>
                <a:cs typeface="Microsoft JhengHei"/>
              </a:rPr>
              <a:t>FETCH</a:t>
            </a:r>
          </a:p>
        </p:txBody>
      </p:sp>
      <p:sp>
        <p:nvSpPr>
          <p:cNvPr id="14" name="workflow-body-1">
            <a:extLst>
              <a:ext uri="{FF2B5EF4-FFF2-40B4-BE49-F238E27FC236}">
                <a16:creationId xmlns:a16="http://schemas.microsoft.com/office/drawing/2014/main" id="{F5A80225-CF3D-4446-B4C6-6253686E1279}"/>
              </a:ext>
            </a:extLst>
          </p:cNvPr>
          <p:cNvSpPr>
            <a:spLocks noGrp="1"/>
          </p:cNvSpPr>
          <p:nvPr/>
        </p:nvSpPr>
        <p:spPr>
          <a:xfrm>
            <a:off x="2495550" y="2724150"/>
            <a:ext cx="12763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6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GDC API +</a:t>
            </a:r>
          </a:p>
          <a:p>
            <a:pPr algn="ctr">
              <a:defRPr sz="16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Dictionary</a:t>
            </a:r>
          </a:p>
        </p:txBody>
      </p:sp>
      <p:sp>
        <p:nvSpPr>
          <p:cNvPr id="15" name="workflow-node-2">
            <a:extLst>
              <a:ext uri="{FF2B5EF4-FFF2-40B4-BE49-F238E27FC236}">
                <a16:creationId xmlns:a16="http://schemas.microsoft.com/office/drawing/2014/main" id="{9BD632A3-F396-470C-A1A0-B266DECE4961}"/>
              </a:ext>
            </a:extLst>
          </p:cNvPr>
          <p:cNvSpPr>
            <a:spLocks noGrp="1"/>
          </p:cNvSpPr>
          <p:nvPr/>
        </p:nvSpPr>
        <p:spPr>
          <a:xfrm>
            <a:off x="4324350" y="2152650"/>
            <a:ext cx="1504950" cy="1447800"/>
          </a:xfrm>
          <a:prstGeom prst="roundRect">
            <a:avLst>
              <a:gd name="adj" fmla="val 5263"/>
            </a:avLst>
          </a:prstGeom>
          <a:solidFill>
            <a:srgbClr val="F1F3F5"/>
          </a:solidFill>
          <a:ln w="9525">
            <a:solidFill>
              <a:srgbClr val="B8C0C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workflow-label-2">
            <a:extLst>
              <a:ext uri="{FF2B5EF4-FFF2-40B4-BE49-F238E27FC236}">
                <a16:creationId xmlns:a16="http://schemas.microsoft.com/office/drawing/2014/main" id="{AFC2FAE7-36F0-4628-9992-221F8A2C1EB2}"/>
              </a:ext>
            </a:extLst>
          </p:cNvPr>
          <p:cNvSpPr>
            <a:spLocks noGrp="1"/>
          </p:cNvSpPr>
          <p:nvPr/>
        </p:nvSpPr>
        <p:spPr>
          <a:xfrm>
            <a:off x="4476750" y="2362200"/>
            <a:ext cx="1200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3214" lnSpcReduction="10000"/>
          </a:bodyPr>
          <a:lstStyle/>
          <a:p>
            <a:pPr algn="ctr">
              <a:defRPr sz="1050" b="1">
                <a:solidFill>
                  <a:srgbClr val="005EA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005EA8"/>
                </a:solidFill>
                <a:latin typeface="Microsoft JhengHei"/>
                <a:ea typeface="Microsoft JhengHei"/>
                <a:cs typeface="Microsoft JhengHei"/>
              </a:rPr>
              <a:t>TRANSFORM</a:t>
            </a:r>
          </a:p>
        </p:txBody>
      </p:sp>
      <p:sp>
        <p:nvSpPr>
          <p:cNvPr id="17" name="workflow-body-2">
            <a:extLst>
              <a:ext uri="{FF2B5EF4-FFF2-40B4-BE49-F238E27FC236}">
                <a16:creationId xmlns:a16="http://schemas.microsoft.com/office/drawing/2014/main" id="{20155497-007E-4D94-88F5-5306BB785681}"/>
              </a:ext>
            </a:extLst>
          </p:cNvPr>
          <p:cNvSpPr>
            <a:spLocks noGrp="1"/>
          </p:cNvSpPr>
          <p:nvPr/>
        </p:nvSpPr>
        <p:spPr>
          <a:xfrm>
            <a:off x="4438650" y="2724150"/>
            <a:ext cx="12763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6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Normalize</a:t>
            </a:r>
          </a:p>
          <a:p>
            <a:pPr algn="ctr">
              <a:defRPr sz="16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巢狀欄位</a:t>
            </a:r>
          </a:p>
        </p:txBody>
      </p:sp>
      <p:sp>
        <p:nvSpPr>
          <p:cNvPr id="18" name="workflow-node-3">
            <a:extLst>
              <a:ext uri="{FF2B5EF4-FFF2-40B4-BE49-F238E27FC236}">
                <a16:creationId xmlns:a16="http://schemas.microsoft.com/office/drawing/2014/main" id="{695D87A0-F4AA-4A75-820E-132904E3D164}"/>
              </a:ext>
            </a:extLst>
          </p:cNvPr>
          <p:cNvSpPr>
            <a:spLocks noGrp="1"/>
          </p:cNvSpPr>
          <p:nvPr/>
        </p:nvSpPr>
        <p:spPr>
          <a:xfrm>
            <a:off x="6267450" y="2152650"/>
            <a:ext cx="1504950" cy="1447800"/>
          </a:xfrm>
          <a:prstGeom prst="roundRect">
            <a:avLst>
              <a:gd name="adj" fmla="val 5263"/>
            </a:avLst>
          </a:prstGeom>
          <a:solidFill>
            <a:srgbClr val="EAF6FC"/>
          </a:solidFill>
          <a:ln w="19050">
            <a:solidFill>
              <a:srgbClr val="1877C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workflow-label-3">
            <a:extLst>
              <a:ext uri="{FF2B5EF4-FFF2-40B4-BE49-F238E27FC236}">
                <a16:creationId xmlns:a16="http://schemas.microsoft.com/office/drawing/2014/main" id="{CF4582AA-59D7-4785-B3AF-E5F674634479}"/>
              </a:ext>
            </a:extLst>
          </p:cNvPr>
          <p:cNvSpPr>
            <a:spLocks noGrp="1"/>
          </p:cNvSpPr>
          <p:nvPr/>
        </p:nvSpPr>
        <p:spPr>
          <a:xfrm>
            <a:off x="6419850" y="2362200"/>
            <a:ext cx="1200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3214" lnSpcReduction="10000"/>
          </a:bodyPr>
          <a:lstStyle/>
          <a:p>
            <a:pPr algn="ctr">
              <a:defRPr sz="1050" b="1">
                <a:solidFill>
                  <a:srgbClr val="005EA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005EA8"/>
                </a:solidFill>
                <a:latin typeface="Microsoft JhengHei"/>
                <a:ea typeface="Microsoft JhengHei"/>
                <a:cs typeface="Microsoft JhengHei"/>
              </a:rPr>
              <a:t>EVIDENCE</a:t>
            </a:r>
          </a:p>
        </p:txBody>
      </p:sp>
      <p:sp>
        <p:nvSpPr>
          <p:cNvPr id="20" name="workflow-body-3">
            <a:extLst>
              <a:ext uri="{FF2B5EF4-FFF2-40B4-BE49-F238E27FC236}">
                <a16:creationId xmlns:a16="http://schemas.microsoft.com/office/drawing/2014/main" id="{A874BC77-DC1D-4B1C-AB95-5F4858BC1213}"/>
              </a:ext>
            </a:extLst>
          </p:cNvPr>
          <p:cNvSpPr>
            <a:spLocks noGrp="1"/>
          </p:cNvSpPr>
          <p:nvPr/>
        </p:nvSpPr>
        <p:spPr>
          <a:xfrm>
            <a:off x="6381750" y="2724150"/>
            <a:ext cx="12763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1789" lnSpcReduction="10000"/>
          </a:bodyPr>
          <a:lstStyle/>
          <a:p>
            <a:pPr algn="ctr">
              <a:defRPr sz="16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URL · hash</a:t>
            </a:r>
          </a:p>
          <a:p>
            <a:pPr algn="ctr">
              <a:defRPr sz="16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version · log</a:t>
            </a:r>
          </a:p>
        </p:txBody>
      </p:sp>
      <p:sp>
        <p:nvSpPr>
          <p:cNvPr id="21" name="workflow-node-4">
            <a:extLst>
              <a:ext uri="{FF2B5EF4-FFF2-40B4-BE49-F238E27FC236}">
                <a16:creationId xmlns:a16="http://schemas.microsoft.com/office/drawing/2014/main" id="{57191522-B95B-4FDC-AB28-FAB5BF4637A5}"/>
              </a:ext>
            </a:extLst>
          </p:cNvPr>
          <p:cNvSpPr>
            <a:spLocks noGrp="1"/>
          </p:cNvSpPr>
          <p:nvPr/>
        </p:nvSpPr>
        <p:spPr>
          <a:xfrm>
            <a:off x="8210550" y="2152650"/>
            <a:ext cx="1504950" cy="1447800"/>
          </a:xfrm>
          <a:prstGeom prst="roundRect">
            <a:avLst>
              <a:gd name="adj" fmla="val 5263"/>
            </a:avLst>
          </a:prstGeom>
          <a:solidFill>
            <a:srgbClr val="F1F3F5"/>
          </a:solidFill>
          <a:ln w="9525">
            <a:solidFill>
              <a:srgbClr val="B8C0C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workflow-label-4">
            <a:extLst>
              <a:ext uri="{FF2B5EF4-FFF2-40B4-BE49-F238E27FC236}">
                <a16:creationId xmlns:a16="http://schemas.microsoft.com/office/drawing/2014/main" id="{536232F7-4947-48CA-8F5E-D47BAE52EAC9}"/>
              </a:ext>
            </a:extLst>
          </p:cNvPr>
          <p:cNvSpPr>
            <a:spLocks noGrp="1"/>
          </p:cNvSpPr>
          <p:nvPr/>
        </p:nvSpPr>
        <p:spPr>
          <a:xfrm>
            <a:off x="8362950" y="2362200"/>
            <a:ext cx="1200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3214" lnSpcReduction="10000"/>
          </a:bodyPr>
          <a:lstStyle/>
          <a:p>
            <a:pPr algn="ctr">
              <a:defRPr sz="1050" b="1">
                <a:solidFill>
                  <a:srgbClr val="005EA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005EA8"/>
                </a:solidFill>
                <a:latin typeface="Microsoft JhengHei"/>
                <a:ea typeface="Microsoft JhengHei"/>
                <a:cs typeface="Microsoft JhengHei"/>
              </a:rPr>
              <a:t>CHECK</a:t>
            </a:r>
          </a:p>
        </p:txBody>
      </p:sp>
      <p:sp>
        <p:nvSpPr>
          <p:cNvPr id="23" name="workflow-body-4">
            <a:extLst>
              <a:ext uri="{FF2B5EF4-FFF2-40B4-BE49-F238E27FC236}">
                <a16:creationId xmlns:a16="http://schemas.microsoft.com/office/drawing/2014/main" id="{EC08057E-F964-4CF3-ADDF-C05311544EA7}"/>
              </a:ext>
            </a:extLst>
          </p:cNvPr>
          <p:cNvSpPr>
            <a:spLocks noGrp="1"/>
          </p:cNvSpPr>
          <p:nvPr/>
        </p:nvSpPr>
        <p:spPr>
          <a:xfrm>
            <a:off x="8324850" y="2724150"/>
            <a:ext cx="12763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6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schema +</a:t>
            </a:r>
          </a:p>
          <a:p>
            <a:pPr algn="ctr">
              <a:defRPr sz="16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4 cases</a:t>
            </a:r>
          </a:p>
        </p:txBody>
      </p:sp>
      <p:sp>
        <p:nvSpPr>
          <p:cNvPr id="24" name="workflow-node-5">
            <a:extLst>
              <a:ext uri="{FF2B5EF4-FFF2-40B4-BE49-F238E27FC236}">
                <a16:creationId xmlns:a16="http://schemas.microsoft.com/office/drawing/2014/main" id="{1694B4DA-D5C7-4124-814B-FE54122FD1E2}"/>
              </a:ext>
            </a:extLst>
          </p:cNvPr>
          <p:cNvSpPr>
            <a:spLocks noGrp="1"/>
          </p:cNvSpPr>
          <p:nvPr/>
        </p:nvSpPr>
        <p:spPr>
          <a:xfrm>
            <a:off x="10153650" y="2152650"/>
            <a:ext cx="1504950" cy="1447800"/>
          </a:xfrm>
          <a:prstGeom prst="roundRect">
            <a:avLst>
              <a:gd name="adj" fmla="val 5263"/>
            </a:avLst>
          </a:prstGeom>
          <a:solidFill>
            <a:srgbClr val="F1F3F5"/>
          </a:solidFill>
          <a:ln w="9525">
            <a:solidFill>
              <a:srgbClr val="B8C0C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workflow-label-5">
            <a:extLst>
              <a:ext uri="{FF2B5EF4-FFF2-40B4-BE49-F238E27FC236}">
                <a16:creationId xmlns:a16="http://schemas.microsoft.com/office/drawing/2014/main" id="{1162EA45-1954-4FC4-936B-F7E23393EE82}"/>
              </a:ext>
            </a:extLst>
          </p:cNvPr>
          <p:cNvSpPr>
            <a:spLocks noGrp="1"/>
          </p:cNvSpPr>
          <p:nvPr/>
        </p:nvSpPr>
        <p:spPr>
          <a:xfrm>
            <a:off x="10306050" y="2362200"/>
            <a:ext cx="1200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3214" lnSpcReduction="10000"/>
          </a:bodyPr>
          <a:lstStyle/>
          <a:p>
            <a:pPr algn="ctr">
              <a:defRPr sz="1050" b="1">
                <a:solidFill>
                  <a:srgbClr val="005EA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005EA8"/>
                </a:solidFill>
                <a:latin typeface="Microsoft JhengHei"/>
                <a:ea typeface="Microsoft JhengHei"/>
                <a:cs typeface="Microsoft JhengHei"/>
              </a:rPr>
              <a:t>OUTPUT</a:t>
            </a:r>
          </a:p>
        </p:txBody>
      </p:sp>
      <p:sp>
        <p:nvSpPr>
          <p:cNvPr id="26" name="workflow-body-5">
            <a:extLst>
              <a:ext uri="{FF2B5EF4-FFF2-40B4-BE49-F238E27FC236}">
                <a16:creationId xmlns:a16="http://schemas.microsoft.com/office/drawing/2014/main" id="{79E19701-F1BA-42E1-B118-07EEB68C37E7}"/>
              </a:ext>
            </a:extLst>
          </p:cNvPr>
          <p:cNvSpPr>
            <a:spLocks noGrp="1"/>
          </p:cNvSpPr>
          <p:nvPr/>
        </p:nvSpPr>
        <p:spPr>
          <a:xfrm>
            <a:off x="10267950" y="2724150"/>
            <a:ext cx="12763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6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cards · fit</a:t>
            </a:r>
          </a:p>
          <a:p>
            <a:pPr algn="ctr">
              <a:defRPr sz="16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dictionary</a:t>
            </a:r>
          </a:p>
        </p:txBody>
      </p:sp>
      <p:sp>
        <p:nvSpPr>
          <p:cNvPr id="27" name="workflow-stop-line">
            <a:extLst>
              <a:ext uri="{FF2B5EF4-FFF2-40B4-BE49-F238E27FC236}">
                <a16:creationId xmlns:a16="http://schemas.microsoft.com/office/drawing/2014/main" id="{036BD0E4-39CB-435F-A09A-220D5309CC4C}"/>
              </a:ext>
            </a:extLst>
          </p:cNvPr>
          <p:cNvSpPr>
            <a:spLocks noGrp="1"/>
          </p:cNvSpPr>
          <p:nvPr/>
        </p:nvSpPr>
        <p:spPr>
          <a:xfrm>
            <a:off x="6076950" y="4095750"/>
            <a:ext cx="38100" cy="933450"/>
          </a:xfrm>
          <a:prstGeom prst="rect">
            <a:avLst/>
          </a:prstGeom>
          <a:solidFill>
            <a:srgbClr val="C44536"/>
          </a:solidFill>
          <a:ln w="0">
            <a:solidFill>
              <a:srgbClr val="C4453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workflow-stop-panel">
            <a:extLst>
              <a:ext uri="{FF2B5EF4-FFF2-40B4-BE49-F238E27FC236}">
                <a16:creationId xmlns:a16="http://schemas.microsoft.com/office/drawing/2014/main" id="{F61DABB2-BA8D-4802-AE94-AC2CEB6B0CBD}"/>
              </a:ext>
            </a:extLst>
          </p:cNvPr>
          <p:cNvSpPr>
            <a:spLocks noGrp="1"/>
          </p:cNvSpPr>
          <p:nvPr/>
        </p:nvSpPr>
        <p:spPr>
          <a:xfrm>
            <a:off x="4514850" y="5010150"/>
            <a:ext cx="3162300" cy="781050"/>
          </a:xfrm>
          <a:prstGeom prst="roundRect">
            <a:avLst>
              <a:gd name="adj" fmla="val 9756"/>
            </a:avLst>
          </a:prstGeom>
          <a:solidFill>
            <a:srgbClr val="FCEBE8"/>
          </a:solidFill>
          <a:ln w="9525">
            <a:solidFill>
              <a:srgbClr val="C4453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workflow-stop-text">
            <a:extLst>
              <a:ext uri="{FF2B5EF4-FFF2-40B4-BE49-F238E27FC236}">
                <a16:creationId xmlns:a16="http://schemas.microsoft.com/office/drawing/2014/main" id="{0924C768-8D97-4187-A916-95B14E918D8B}"/>
              </a:ext>
            </a:extLst>
          </p:cNvPr>
          <p:cNvSpPr>
            <a:spLocks noGrp="1"/>
          </p:cNvSpPr>
          <p:nvPr/>
        </p:nvSpPr>
        <p:spPr>
          <a:xfrm>
            <a:off x="4705350" y="5162550"/>
            <a:ext cx="27813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175"/>
          </a:bodyPr>
          <a:lstStyle/>
          <a:p>
            <a:pPr algn="ctr">
              <a:defRPr sz="1650" b="1">
                <a:solidFill>
                  <a:srgbClr val="C445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C44536"/>
                </a:solidFill>
                <a:latin typeface="Microsoft JhengHei"/>
                <a:ea typeface="Microsoft JhengHei"/>
                <a:cs typeface="Microsoft JhengHei"/>
              </a:rPr>
              <a:t>missing / conflict → 停止 claim</a:t>
            </a:r>
          </a:p>
          <a:p>
            <a:pPr algn="ctr">
              <a:defRPr sz="1650" b="1">
                <a:solidFill>
                  <a:srgbClr val="C445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C44536"/>
                </a:solidFill>
                <a:latin typeface="Microsoft JhengHei"/>
                <a:ea typeface="Microsoft JhengHei"/>
                <a:cs typeface="Microsoft JhengHei"/>
              </a:rPr>
              <a:t>→ 人工 review</a:t>
            </a:r>
          </a:p>
        </p:txBody>
      </p:sp>
      <p:sp>
        <p:nvSpPr>
          <p:cNvPr id="30" name="workflow-limit">
            <a:extLst>
              <a:ext uri="{FF2B5EF4-FFF2-40B4-BE49-F238E27FC236}">
                <a16:creationId xmlns:a16="http://schemas.microsoft.com/office/drawing/2014/main" id="{1CBFBF2B-6E80-4C0F-9D0C-536F7973CC10}"/>
              </a:ext>
            </a:extLst>
          </p:cNvPr>
          <p:cNvSpPr>
            <a:spLocks noGrp="1"/>
          </p:cNvSpPr>
          <p:nvPr/>
        </p:nvSpPr>
        <p:spPr>
          <a:xfrm>
            <a:off x="628650" y="5257800"/>
            <a:ext cx="3429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7189"/>
          </a:bodyPr>
          <a:lstStyle/>
          <a:p>
            <a:pPr algn="l">
              <a:defRPr sz="165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只有 FETCH 最多重試 2 次；</a:t>
            </a:r>
          </a:p>
          <a:p>
            <a:pPr algn="l">
              <a:defRPr sz="165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Agent 不允許無限 autonomous loop。</a:t>
            </a:r>
          </a:p>
        </p:txBody>
      </p:sp>
      <p:sp>
        <p:nvSpPr>
          <p:cNvPr id="31" name="source-Source: ">
            <a:extLst>
              <a:ext uri="{FF2B5EF4-FFF2-40B4-BE49-F238E27FC236}">
                <a16:creationId xmlns:a16="http://schemas.microsoft.com/office/drawing/2014/main" id="{45651594-EF1D-427F-B69D-FC168A7A3639}"/>
              </a:ext>
            </a:extLst>
          </p:cNvPr>
          <p:cNvSpPr>
            <a:spLocks noGrp="1"/>
          </p:cNvSpPr>
          <p:nvPr/>
        </p:nvSpPr>
        <p:spPr>
          <a:xfrm>
            <a:off x="533400" y="6334125"/>
            <a:ext cx="1028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9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Source: README.md · src/gdc_scout/workflow.py</a:t>
            </a:r>
          </a:p>
        </p:txBody>
      </p:sp>
    </p:spTree>
    <p:extLst>
      <p:ext uri="{BB962C8B-B14F-4D97-AF65-F5344CB8AC3E}">
        <p14:creationId xmlns:p14="http://schemas.microsoft.com/office/powerpoint/2010/main" val="14738829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eyebrow-4">
            <a:extLst>
              <a:ext uri="{FF2B5EF4-FFF2-40B4-BE49-F238E27FC236}">
                <a16:creationId xmlns:a16="http://schemas.microsoft.com/office/drawing/2014/main" id="{41EF1609-DDF9-4212-83B3-47E59A2DA40A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3214" lnSpcReduction="10000"/>
          </a:bodyPr>
          <a:lstStyle/>
          <a:p>
            <a:pPr algn="l">
              <a:defRPr sz="1050" b="1">
                <a:solidFill>
                  <a:srgbClr val="005EA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005EA8"/>
                </a:solidFill>
                <a:latin typeface="Microsoft JhengHei"/>
                <a:ea typeface="Microsoft JhengHei"/>
                <a:cs typeface="Microsoft JhengHei"/>
              </a:rPr>
              <a:t>03 · EVIDENCE + ARTIFACTS</a:t>
            </a:r>
          </a:p>
        </p:txBody>
      </p:sp>
      <p:sp>
        <p:nvSpPr>
          <p:cNvPr id="2" name="title-4">
            <a:extLst>
              <a:ext uri="{FF2B5EF4-FFF2-40B4-BE49-F238E27FC236}">
                <a16:creationId xmlns:a16="http://schemas.microsoft.com/office/drawing/2014/main" id="{D2F643D5-30E1-4687-8F35-A24D6B1C745D}"/>
              </a:ext>
            </a:extLst>
          </p:cNvPr>
          <p:cNvSpPr>
            <a:spLocks noGrp="1"/>
          </p:cNvSpPr>
          <p:nvPr/>
        </p:nvSpPr>
        <p:spPr>
          <a:xfrm>
            <a:off x="533400" y="685800"/>
            <a:ext cx="107632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36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每個 claim 都能回查；每個輸出都有稽核線索</a:t>
            </a:r>
          </a:p>
        </p:txBody>
      </p:sp>
      <p:sp>
        <p:nvSpPr>
          <p:cNvPr id="3" name="page-4">
            <a:extLst>
              <a:ext uri="{FF2B5EF4-FFF2-40B4-BE49-F238E27FC236}">
                <a16:creationId xmlns:a16="http://schemas.microsoft.com/office/drawing/2014/main" id="{F4E214E1-DD90-48BC-8700-DF3635E3C31C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419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1667" lnSpcReduction="20000"/>
          </a:bodyPr>
          <a:lstStyle/>
          <a:p>
            <a:pPr algn="r">
              <a:defRPr sz="9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4" name="trace-panel">
            <a:extLst>
              <a:ext uri="{FF2B5EF4-FFF2-40B4-BE49-F238E27FC236}">
                <a16:creationId xmlns:a16="http://schemas.microsoft.com/office/drawing/2014/main" id="{B7302F15-1C02-470D-833F-6E6BCF227AE5}"/>
              </a:ext>
            </a:extLst>
          </p:cNvPr>
          <p:cNvSpPr>
            <a:spLocks noGrp="1"/>
          </p:cNvSpPr>
          <p:nvPr/>
        </p:nvSpPr>
        <p:spPr>
          <a:xfrm>
            <a:off x="533400" y="1657350"/>
            <a:ext cx="6419850" cy="4000500"/>
          </a:xfrm>
          <a:prstGeom prst="roundRect">
            <a:avLst>
              <a:gd name="adj" fmla="val 1905"/>
            </a:avLst>
          </a:prstGeom>
          <a:solidFill>
            <a:srgbClr val="111827"/>
          </a:solidFill>
          <a:ln w="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race-eid">
            <a:extLst>
              <a:ext uri="{FF2B5EF4-FFF2-40B4-BE49-F238E27FC236}">
                <a16:creationId xmlns:a16="http://schemas.microsoft.com/office/drawing/2014/main" id="{2F5133A2-83FD-4888-95E6-90876A630AA7}"/>
              </a:ext>
            </a:extLst>
          </p:cNvPr>
          <p:cNvSpPr>
            <a:spLocks noGrp="1"/>
          </p:cNvSpPr>
          <p:nvPr/>
        </p:nvSpPr>
        <p:spPr>
          <a:xfrm>
            <a:off x="838200" y="1943100"/>
            <a:ext cx="114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1026" lnSpcReduction="10000"/>
          </a:bodyPr>
          <a:lstStyle/>
          <a:p>
            <a:pPr algn="l">
              <a:defRPr sz="1950" b="1">
                <a:solidFill>
                  <a:srgbClr val="6DCBF4"/>
                </a:solidFill>
                <a:latin typeface="Consolas"/>
                <a:ea typeface="Consolas"/>
                <a:cs typeface="Consolas"/>
              </a:defRPr>
            </a:pPr>
            <a:r>
              <a:rPr sz="1950" b="1">
                <a:solidFill>
                  <a:srgbClr val="6DCBF4"/>
                </a:solidFill>
                <a:latin typeface="Consolas"/>
                <a:ea typeface="Consolas"/>
                <a:cs typeface="Consolas"/>
              </a:rPr>
              <a:t>E001</a:t>
            </a:r>
          </a:p>
        </p:txBody>
      </p:sp>
      <p:sp>
        <p:nvSpPr>
          <p:cNvPr id="6" name="trace-url-label">
            <a:extLst>
              <a:ext uri="{FF2B5EF4-FFF2-40B4-BE49-F238E27FC236}">
                <a16:creationId xmlns:a16="http://schemas.microsoft.com/office/drawing/2014/main" id="{535C60F5-9A43-4FB9-92AC-689395928BD9}"/>
              </a:ext>
            </a:extLst>
          </p:cNvPr>
          <p:cNvSpPr>
            <a:spLocks noGrp="1"/>
          </p:cNvSpPr>
          <p:nvPr/>
        </p:nvSpPr>
        <p:spPr>
          <a:xfrm>
            <a:off x="838200" y="260985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1309" lnSpcReduction="20000"/>
          </a:bodyPr>
          <a:lstStyle/>
          <a:p>
            <a:pPr algn="l">
              <a:defRPr sz="1050" b="1">
                <a:solidFill>
                  <a:srgbClr val="A6B2C1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A6B2C1"/>
                </a:solidFill>
                <a:latin typeface="Consolas"/>
                <a:ea typeface="Consolas"/>
                <a:cs typeface="Consolas"/>
              </a:rPr>
              <a:t>SOURCE</a:t>
            </a:r>
          </a:p>
        </p:txBody>
      </p:sp>
      <p:sp>
        <p:nvSpPr>
          <p:cNvPr id="7" name="trace-url">
            <a:extLst>
              <a:ext uri="{FF2B5EF4-FFF2-40B4-BE49-F238E27FC236}">
                <a16:creationId xmlns:a16="http://schemas.microsoft.com/office/drawing/2014/main" id="{06946963-1E5D-4DB1-B752-2EF7667B46D9}"/>
              </a:ext>
            </a:extLst>
          </p:cNvPr>
          <p:cNvSpPr>
            <a:spLocks noGrp="1"/>
          </p:cNvSpPr>
          <p:nvPr/>
        </p:nvSpPr>
        <p:spPr>
          <a:xfrm>
            <a:off x="838200" y="2876550"/>
            <a:ext cx="571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924" lnSpcReduction="10000"/>
          </a:bodyPr>
          <a:lstStyle/>
          <a:p>
            <a:pPr algn="l">
              <a:defRPr sz="16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api.gdc.cancer.gov/cases/_mapping</a:t>
            </a:r>
          </a:p>
        </p:txBody>
      </p:sp>
      <p:sp>
        <p:nvSpPr>
          <p:cNvPr id="8" name="trace-status-label">
            <a:extLst>
              <a:ext uri="{FF2B5EF4-FFF2-40B4-BE49-F238E27FC236}">
                <a16:creationId xmlns:a16="http://schemas.microsoft.com/office/drawing/2014/main" id="{A22B3E30-42E2-4FCC-BDC6-76EE18D356D2}"/>
              </a:ext>
            </a:extLst>
          </p:cNvPr>
          <p:cNvSpPr>
            <a:spLocks noGrp="1"/>
          </p:cNvSpPr>
          <p:nvPr/>
        </p:nvSpPr>
        <p:spPr>
          <a:xfrm>
            <a:off x="838200" y="340995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1309" lnSpcReduction="20000"/>
          </a:bodyPr>
          <a:lstStyle/>
          <a:p>
            <a:pPr algn="l">
              <a:defRPr sz="1050" b="1">
                <a:solidFill>
                  <a:srgbClr val="A6B2C1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A6B2C1"/>
                </a:solidFill>
                <a:latin typeface="Consolas"/>
                <a:ea typeface="Consolas"/>
                <a:cs typeface="Consolas"/>
              </a:rPr>
              <a:t>STATUS</a:t>
            </a:r>
          </a:p>
        </p:txBody>
      </p:sp>
      <p:sp>
        <p:nvSpPr>
          <p:cNvPr id="9" name="trace-status">
            <a:extLst>
              <a:ext uri="{FF2B5EF4-FFF2-40B4-BE49-F238E27FC236}">
                <a16:creationId xmlns:a16="http://schemas.microsoft.com/office/drawing/2014/main" id="{D1EB7950-E154-42BC-8E1A-190B39DCAC64}"/>
              </a:ext>
            </a:extLst>
          </p:cNvPr>
          <p:cNvSpPr>
            <a:spLocks noGrp="1"/>
          </p:cNvSpPr>
          <p:nvPr/>
        </p:nvSpPr>
        <p:spPr>
          <a:xfrm>
            <a:off x="838200" y="367665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924" lnSpcReduction="10000"/>
          </a:bodyPr>
          <a:lstStyle/>
          <a:p>
            <a:pPr algn="l">
              <a:defRPr sz="1650" b="1">
                <a:solidFill>
                  <a:srgbClr val="8EE3C6"/>
                </a:solidFill>
                <a:latin typeface="Consolas"/>
                <a:ea typeface="Consolas"/>
                <a:cs typeface="Consolas"/>
              </a:defRPr>
            </a:pPr>
            <a:r>
              <a:rPr sz="1650" b="1">
                <a:solidFill>
                  <a:srgbClr val="8EE3C6"/>
                </a:solidFill>
                <a:latin typeface="Consolas"/>
                <a:ea typeface="Consolas"/>
                <a:cs typeface="Consolas"/>
              </a:rPr>
              <a:t>HTTP 200  ·  1 attempt</a:t>
            </a:r>
          </a:p>
        </p:txBody>
      </p:sp>
      <p:sp>
        <p:nvSpPr>
          <p:cNvPr id="10" name="trace-hash-label">
            <a:extLst>
              <a:ext uri="{FF2B5EF4-FFF2-40B4-BE49-F238E27FC236}">
                <a16:creationId xmlns:a16="http://schemas.microsoft.com/office/drawing/2014/main" id="{902D76F8-732B-45BA-BE48-063B79DDD5AC}"/>
              </a:ext>
            </a:extLst>
          </p:cNvPr>
          <p:cNvSpPr>
            <a:spLocks noGrp="1"/>
          </p:cNvSpPr>
          <p:nvPr/>
        </p:nvSpPr>
        <p:spPr>
          <a:xfrm>
            <a:off x="838200" y="4210050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1309" lnSpcReduction="20000"/>
          </a:bodyPr>
          <a:lstStyle/>
          <a:p>
            <a:pPr algn="l">
              <a:defRPr sz="1050" b="1">
                <a:solidFill>
                  <a:srgbClr val="A6B2C1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A6B2C1"/>
                </a:solidFill>
                <a:latin typeface="Consolas"/>
                <a:ea typeface="Consolas"/>
                <a:cs typeface="Consolas"/>
              </a:rPr>
              <a:t>VERSION / SHA-256</a:t>
            </a:r>
          </a:p>
        </p:txBody>
      </p:sp>
      <p:sp>
        <p:nvSpPr>
          <p:cNvPr id="11" name="trace-hash">
            <a:extLst>
              <a:ext uri="{FF2B5EF4-FFF2-40B4-BE49-F238E27FC236}">
                <a16:creationId xmlns:a16="http://schemas.microsoft.com/office/drawing/2014/main" id="{0D559943-3796-4897-8068-A323BD73DF4A}"/>
              </a:ext>
            </a:extLst>
          </p:cNvPr>
          <p:cNvSpPr>
            <a:spLocks noGrp="1"/>
          </p:cNvSpPr>
          <p:nvPr/>
        </p:nvSpPr>
        <p:spPr>
          <a:xfrm>
            <a:off x="838200" y="4476750"/>
            <a:ext cx="581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4e5fd1736d2b…e798c8  ·  parser 0.1.0</a:t>
            </a:r>
          </a:p>
        </p:txBody>
      </p:sp>
      <p:sp>
        <p:nvSpPr>
          <p:cNvPr id="12" name="trace-time">
            <a:extLst>
              <a:ext uri="{FF2B5EF4-FFF2-40B4-BE49-F238E27FC236}">
                <a16:creationId xmlns:a16="http://schemas.microsoft.com/office/drawing/2014/main" id="{C3E7F5FA-B6DF-4637-863F-7D06C5C3D765}"/>
              </a:ext>
            </a:extLst>
          </p:cNvPr>
          <p:cNvSpPr>
            <a:spLocks noGrp="1"/>
          </p:cNvSpPr>
          <p:nvPr/>
        </p:nvSpPr>
        <p:spPr>
          <a:xfrm>
            <a:off x="838200" y="5124450"/>
            <a:ext cx="533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7696" lnSpcReduction="10000"/>
          </a:bodyPr>
          <a:lstStyle/>
          <a:p>
            <a:pPr algn="l">
              <a:defRPr sz="1275" b="0">
                <a:solidFill>
                  <a:srgbClr val="A6B2C1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A6B2C1"/>
                </a:solidFill>
                <a:latin typeface="Consolas"/>
                <a:ea typeface="Consolas"/>
                <a:cs typeface="Consolas"/>
              </a:rPr>
              <a:t>retrieved_at  2026-07-12T15:30:33Z</a:t>
            </a:r>
          </a:p>
        </p:txBody>
      </p:sp>
      <p:sp>
        <p:nvSpPr>
          <p:cNvPr id="13" name="artifact-title">
            <a:extLst>
              <a:ext uri="{FF2B5EF4-FFF2-40B4-BE49-F238E27FC236}">
                <a16:creationId xmlns:a16="http://schemas.microsoft.com/office/drawing/2014/main" id="{5D2AD673-837C-4730-A224-3C3EDA5E36F8}"/>
              </a:ext>
            </a:extLst>
          </p:cNvPr>
          <p:cNvSpPr>
            <a:spLocks noGrp="1"/>
          </p:cNvSpPr>
          <p:nvPr/>
        </p:nvSpPr>
        <p:spPr>
          <a:xfrm>
            <a:off x="7410450" y="1714500"/>
            <a:ext cx="4000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1458" lnSpcReduction="20000"/>
          </a:bodyPr>
          <a:lstStyle/>
          <a:p>
            <a:pPr algn="l">
              <a:defRPr sz="2400" b="1">
                <a:solidFill>
                  <a:srgbClr val="005EA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005EA8"/>
                </a:solidFill>
                <a:latin typeface="Microsoft JhengHei"/>
                <a:ea typeface="Microsoft JhengHei"/>
                <a:cs typeface="Microsoft JhengHei"/>
              </a:rPr>
              <a:t>核心輸出</a:t>
            </a:r>
          </a:p>
        </p:txBody>
      </p:sp>
      <p:sp>
        <p:nvSpPr>
          <p:cNvPr id="14" name="rule-778-232">
            <a:extLst>
              <a:ext uri="{FF2B5EF4-FFF2-40B4-BE49-F238E27FC236}">
                <a16:creationId xmlns:a16="http://schemas.microsoft.com/office/drawing/2014/main" id="{3C63520A-DD99-4B22-9BCB-B428A5A01770}"/>
              </a:ext>
            </a:extLst>
          </p:cNvPr>
          <p:cNvSpPr>
            <a:spLocks noGrp="1"/>
          </p:cNvSpPr>
          <p:nvPr/>
        </p:nvSpPr>
        <p:spPr>
          <a:xfrm>
            <a:off x="7410450" y="2209800"/>
            <a:ext cx="4000500" cy="38100"/>
          </a:xfrm>
          <a:prstGeom prst="rect">
            <a:avLst/>
          </a:prstGeom>
          <a:solidFill>
            <a:srgbClr val="1877C9"/>
          </a:solidFill>
          <a:ln w="0">
            <a:solidFill>
              <a:srgbClr val="1877C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artifact-file-0">
            <a:extLst>
              <a:ext uri="{FF2B5EF4-FFF2-40B4-BE49-F238E27FC236}">
                <a16:creationId xmlns:a16="http://schemas.microsoft.com/office/drawing/2014/main" id="{94E652DE-139F-4794-8812-8446A7326ACB}"/>
              </a:ext>
            </a:extLst>
          </p:cNvPr>
          <p:cNvSpPr>
            <a:spLocks noGrp="1"/>
          </p:cNvSpPr>
          <p:nvPr/>
        </p:nvSpPr>
        <p:spPr>
          <a:xfrm>
            <a:off x="7410450" y="2343150"/>
            <a:ext cx="4000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659" lnSpcReduction="10000"/>
          </a:bodyPr>
          <a:lstStyle/>
          <a:p>
            <a:pPr algn="l">
              <a:defRPr sz="1725" b="1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725" b="1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dataset_cards.csv</a:t>
            </a:r>
          </a:p>
        </p:txBody>
      </p:sp>
      <p:sp>
        <p:nvSpPr>
          <p:cNvPr id="16" name="artifact-desc-0">
            <a:extLst>
              <a:ext uri="{FF2B5EF4-FFF2-40B4-BE49-F238E27FC236}">
                <a16:creationId xmlns:a16="http://schemas.microsoft.com/office/drawing/2014/main" id="{39AACB54-B426-4F73-B5D7-BE59A1AF3CA6}"/>
              </a:ext>
            </a:extLst>
          </p:cNvPr>
          <p:cNvSpPr>
            <a:spLocks noGrp="1"/>
          </p:cNvSpPr>
          <p:nvPr/>
        </p:nvSpPr>
        <p:spPr>
          <a:xfrm>
            <a:off x="7410450" y="2743200"/>
            <a:ext cx="400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924" lnSpcReduction="10000"/>
          </a:bodyPr>
          <a:lstStyle/>
          <a:p>
            <a:pPr algn="l">
              <a:defRPr sz="165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cohort 範圍、欄位、access、fit</a:t>
            </a:r>
          </a:p>
        </p:txBody>
      </p:sp>
      <p:sp>
        <p:nvSpPr>
          <p:cNvPr id="17" name="rule-778-336">
            <a:extLst>
              <a:ext uri="{FF2B5EF4-FFF2-40B4-BE49-F238E27FC236}">
                <a16:creationId xmlns:a16="http://schemas.microsoft.com/office/drawing/2014/main" id="{954408D3-A7C8-4E21-8CDF-13B838ECAC75}"/>
              </a:ext>
            </a:extLst>
          </p:cNvPr>
          <p:cNvSpPr>
            <a:spLocks noGrp="1"/>
          </p:cNvSpPr>
          <p:nvPr/>
        </p:nvSpPr>
        <p:spPr>
          <a:xfrm>
            <a:off x="7410450" y="3200400"/>
            <a:ext cx="4000500" cy="9525"/>
          </a:xfrm>
          <a:prstGeom prst="rect">
            <a:avLst/>
          </a:prstGeom>
          <a:solidFill>
            <a:srgbClr val="B8C0CA"/>
          </a:solidFill>
          <a:ln w="0">
            <a:solidFill>
              <a:srgbClr val="B8C0C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artifact-file-1">
            <a:extLst>
              <a:ext uri="{FF2B5EF4-FFF2-40B4-BE49-F238E27FC236}">
                <a16:creationId xmlns:a16="http://schemas.microsoft.com/office/drawing/2014/main" id="{E6C3946B-B1C4-442D-9E51-A195B7D31EE5}"/>
              </a:ext>
            </a:extLst>
          </p:cNvPr>
          <p:cNvSpPr>
            <a:spLocks noGrp="1"/>
          </p:cNvSpPr>
          <p:nvPr/>
        </p:nvSpPr>
        <p:spPr>
          <a:xfrm>
            <a:off x="7410450" y="3333750"/>
            <a:ext cx="4000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659" lnSpcReduction="10000"/>
          </a:bodyPr>
          <a:lstStyle/>
          <a:p>
            <a:pPr algn="l">
              <a:defRPr sz="1725" b="1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725" b="1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fit_for_question.md</a:t>
            </a:r>
          </a:p>
        </p:txBody>
      </p:sp>
      <p:sp>
        <p:nvSpPr>
          <p:cNvPr id="19" name="artifact-desc-1">
            <a:extLst>
              <a:ext uri="{FF2B5EF4-FFF2-40B4-BE49-F238E27FC236}">
                <a16:creationId xmlns:a16="http://schemas.microsoft.com/office/drawing/2014/main" id="{6B6B882F-0314-4E2C-ADDB-A6C87CF9F9FA}"/>
              </a:ext>
            </a:extLst>
          </p:cNvPr>
          <p:cNvSpPr>
            <a:spLocks noGrp="1"/>
          </p:cNvSpPr>
          <p:nvPr/>
        </p:nvSpPr>
        <p:spPr>
          <a:xfrm>
            <a:off x="7410450" y="3733800"/>
            <a:ext cx="400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924" lnSpcReduction="10000"/>
          </a:bodyPr>
          <a:lstStyle/>
          <a:p>
            <a:pPr algn="l">
              <a:defRPr sz="165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判定、理由、evidence IDs、限制</a:t>
            </a:r>
          </a:p>
        </p:txBody>
      </p:sp>
      <p:sp>
        <p:nvSpPr>
          <p:cNvPr id="20" name="rule-778-440">
            <a:extLst>
              <a:ext uri="{FF2B5EF4-FFF2-40B4-BE49-F238E27FC236}">
                <a16:creationId xmlns:a16="http://schemas.microsoft.com/office/drawing/2014/main" id="{0EBE351E-9FEF-43A8-BE36-6E39D8295FD6}"/>
              </a:ext>
            </a:extLst>
          </p:cNvPr>
          <p:cNvSpPr>
            <a:spLocks noGrp="1"/>
          </p:cNvSpPr>
          <p:nvPr/>
        </p:nvSpPr>
        <p:spPr>
          <a:xfrm>
            <a:off x="7410450" y="4191000"/>
            <a:ext cx="4000500" cy="9525"/>
          </a:xfrm>
          <a:prstGeom prst="rect">
            <a:avLst/>
          </a:prstGeom>
          <a:solidFill>
            <a:srgbClr val="B8C0CA"/>
          </a:solidFill>
          <a:ln w="0">
            <a:solidFill>
              <a:srgbClr val="B8C0C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artifact-file-2">
            <a:extLst>
              <a:ext uri="{FF2B5EF4-FFF2-40B4-BE49-F238E27FC236}">
                <a16:creationId xmlns:a16="http://schemas.microsoft.com/office/drawing/2014/main" id="{DBFEE7BA-F7F6-441B-AFB0-450BF2A6D0FD}"/>
              </a:ext>
            </a:extLst>
          </p:cNvPr>
          <p:cNvSpPr>
            <a:spLocks noGrp="1"/>
          </p:cNvSpPr>
          <p:nvPr/>
        </p:nvSpPr>
        <p:spPr>
          <a:xfrm>
            <a:off x="7410450" y="4324350"/>
            <a:ext cx="4000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659" lnSpcReduction="10000"/>
          </a:bodyPr>
          <a:lstStyle/>
          <a:p>
            <a:pPr algn="l">
              <a:defRPr sz="1725" b="1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725" b="1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data_dictionary.md</a:t>
            </a:r>
          </a:p>
        </p:txBody>
      </p:sp>
      <p:sp>
        <p:nvSpPr>
          <p:cNvPr id="22" name="artifact-desc-2">
            <a:extLst>
              <a:ext uri="{FF2B5EF4-FFF2-40B4-BE49-F238E27FC236}">
                <a16:creationId xmlns:a16="http://schemas.microsoft.com/office/drawing/2014/main" id="{64D1649F-2993-4B10-A457-3FA4C044E1C5}"/>
              </a:ext>
            </a:extLst>
          </p:cNvPr>
          <p:cNvSpPr>
            <a:spLocks noGrp="1"/>
          </p:cNvSpPr>
          <p:nvPr/>
        </p:nvSpPr>
        <p:spPr>
          <a:xfrm>
            <a:off x="7410450" y="4724400"/>
            <a:ext cx="400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424"/>
          </a:bodyPr>
          <a:lstStyle/>
          <a:p>
            <a:pPr algn="l">
              <a:defRPr sz="165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field path、type、定義、observed count</a:t>
            </a:r>
          </a:p>
        </p:txBody>
      </p:sp>
      <p:sp>
        <p:nvSpPr>
          <p:cNvPr id="23" name="artifact-audit-bg">
            <a:extLst>
              <a:ext uri="{FF2B5EF4-FFF2-40B4-BE49-F238E27FC236}">
                <a16:creationId xmlns:a16="http://schemas.microsoft.com/office/drawing/2014/main" id="{25A8093C-4752-4748-A985-A98C72647315}"/>
              </a:ext>
            </a:extLst>
          </p:cNvPr>
          <p:cNvSpPr>
            <a:spLocks noGrp="1"/>
          </p:cNvSpPr>
          <p:nvPr/>
        </p:nvSpPr>
        <p:spPr>
          <a:xfrm>
            <a:off x="7410450" y="5314950"/>
            <a:ext cx="3905250" cy="342900"/>
          </a:xfrm>
          <a:prstGeom prst="roundRect">
            <a:avLst>
              <a:gd name="adj" fmla="val 50000"/>
            </a:avLst>
          </a:prstGeom>
          <a:solidFill>
            <a:srgbClr val="EAF6FC"/>
          </a:solidFill>
          <a:ln w="0">
            <a:solidFill>
              <a:srgbClr val="EAF6F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artifact-audit">
            <a:extLst>
              <a:ext uri="{FF2B5EF4-FFF2-40B4-BE49-F238E27FC236}">
                <a16:creationId xmlns:a16="http://schemas.microsoft.com/office/drawing/2014/main" id="{051E8CE5-DDEF-4A0F-90A9-8E82EBF25DD7}"/>
              </a:ext>
            </a:extLst>
          </p:cNvPr>
          <p:cNvSpPr>
            <a:spLocks noGrp="1"/>
          </p:cNvSpPr>
          <p:nvPr/>
        </p:nvSpPr>
        <p:spPr>
          <a:xfrm>
            <a:off x="7410450" y="5343525"/>
            <a:ext cx="3905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4167" lnSpcReduction="20000"/>
          </a:bodyPr>
          <a:lstStyle/>
          <a:p>
            <a:pPr algn="ctr">
              <a:defRPr sz="1500" b="1">
                <a:solidFill>
                  <a:srgbClr val="005EA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005EA8"/>
                </a:solidFill>
                <a:latin typeface="Microsoft JhengHei"/>
                <a:ea typeface="Microsoft JhengHei"/>
                <a:cs typeface="Microsoft JhengHei"/>
              </a:rPr>
              <a:t>+ trace.jsonl · eval_report.json</a:t>
            </a:r>
          </a:p>
        </p:txBody>
      </p:sp>
      <p:sp>
        <p:nvSpPr>
          <p:cNvPr id="25" name="source-Source: ">
            <a:extLst>
              <a:ext uri="{FF2B5EF4-FFF2-40B4-BE49-F238E27FC236}">
                <a16:creationId xmlns:a16="http://schemas.microsoft.com/office/drawing/2014/main" id="{CE40719C-BB21-4616-BA9F-B963FB41E826}"/>
              </a:ext>
            </a:extLst>
          </p:cNvPr>
          <p:cNvSpPr>
            <a:spLocks noGrp="1"/>
          </p:cNvSpPr>
          <p:nvPr/>
        </p:nvSpPr>
        <p:spPr>
          <a:xfrm>
            <a:off x="533400" y="6334125"/>
            <a:ext cx="1028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9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Source: trace.jsonl · dataset_cards.csv · fit_for_question.md</a:t>
            </a:r>
          </a:p>
        </p:txBody>
      </p:sp>
    </p:spTree>
    <p:extLst>
      <p:ext uri="{BB962C8B-B14F-4D97-AF65-F5344CB8AC3E}">
        <p14:creationId xmlns:p14="http://schemas.microsoft.com/office/powerpoint/2010/main" val="15602725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yebrow-5">
            <a:extLst>
              <a:ext uri="{FF2B5EF4-FFF2-40B4-BE49-F238E27FC236}">
                <a16:creationId xmlns:a16="http://schemas.microsoft.com/office/drawing/2014/main" id="{00553673-8290-4E4E-B36D-A2F91D95DF9C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3214" lnSpcReduction="10000"/>
          </a:bodyPr>
          <a:lstStyle/>
          <a:p>
            <a:pPr algn="l">
              <a:defRPr sz="1050" b="1">
                <a:solidFill>
                  <a:srgbClr val="005EA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005EA8"/>
                </a:solidFill>
                <a:latin typeface="Microsoft JhengHei"/>
                <a:ea typeface="Microsoft JhengHei"/>
                <a:cs typeface="Microsoft JhengHei"/>
              </a:rPr>
              <a:t>04 · LIVE RESULT</a:t>
            </a:r>
          </a:p>
        </p:txBody>
      </p:sp>
      <p:sp>
        <p:nvSpPr>
          <p:cNvPr id="2" name="title-5">
            <a:extLst>
              <a:ext uri="{FF2B5EF4-FFF2-40B4-BE49-F238E27FC236}">
                <a16:creationId xmlns:a16="http://schemas.microsoft.com/office/drawing/2014/main" id="{E6F37743-358E-4B3E-BFB8-44A776D187C7}"/>
              </a:ext>
            </a:extLst>
          </p:cNvPr>
          <p:cNvSpPr>
            <a:spLocks noGrp="1"/>
          </p:cNvSpPr>
          <p:nvPr/>
        </p:nvSpPr>
        <p:spPr>
          <a:xfrm>
            <a:off x="533400" y="685800"/>
            <a:ext cx="107632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36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兩個 cohort 都通過 metadata fitness gate</a:t>
            </a:r>
          </a:p>
        </p:txBody>
      </p:sp>
      <p:sp>
        <p:nvSpPr>
          <p:cNvPr id="3" name="page-5">
            <a:extLst>
              <a:ext uri="{FF2B5EF4-FFF2-40B4-BE49-F238E27FC236}">
                <a16:creationId xmlns:a16="http://schemas.microsoft.com/office/drawing/2014/main" id="{29436147-F050-4527-BE38-39C26E2924CB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419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6667" lnSpcReduction="10000"/>
          </a:bodyPr>
          <a:lstStyle/>
          <a:p>
            <a:pPr algn="r">
              <a:defRPr sz="9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4" name="chart-label">
            <a:extLst>
              <a:ext uri="{FF2B5EF4-FFF2-40B4-BE49-F238E27FC236}">
                <a16:creationId xmlns:a16="http://schemas.microsoft.com/office/drawing/2014/main" id="{425FBC89-0CDC-4202-8B8E-70F5EB79D069}"/>
              </a:ext>
            </a:extLst>
          </p:cNvPr>
          <p:cNvSpPr>
            <a:spLocks noGrp="1"/>
          </p:cNvSpPr>
          <p:nvPr/>
        </p:nvSpPr>
        <p:spPr>
          <a:xfrm>
            <a:off x="552450" y="1428750"/>
            <a:ext cx="666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7273" lnSpcReduction="10000"/>
          </a:bodyPr>
          <a:lstStyle/>
          <a:p>
            <a:pPr algn="l">
              <a:defRPr sz="165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核心欄位可觀測率（observed cases / project cases）</a:t>
            </a:r>
          </a:p>
        </p:txBody>
      </p:sp>
      <p:graphicFrame>
        <p:nvGraphicFramePr>
          <p:cNvPr id="22" name="Chart"/>
          <p:cNvGraphicFramePr/>
          <p:nvPr>
            <p:extLst>
              <p:ext uri="{D42A27DB-BD31-4B8C-83A1-F6EECF244321}">
                <p14:modId xmlns:p14="http://schemas.microsoft.com/office/powerpoint/2010/main" val="600774769"/>
              </p:ext>
            </p:extLst>
          </p:nvPr>
        </p:nvGraphicFramePr>
        <p:xfrm>
          <a:off x="419100" y="1809750"/>
          <a:ext cx="6667500" cy="4000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luad-result">
            <a:extLst>
              <a:ext uri="{FF2B5EF4-FFF2-40B4-BE49-F238E27FC236}">
                <a16:creationId xmlns:a16="http://schemas.microsoft.com/office/drawing/2014/main" id="{C6E91561-222D-410F-BF1B-D1684F670335}"/>
              </a:ext>
            </a:extLst>
          </p:cNvPr>
          <p:cNvSpPr>
            <a:spLocks noGrp="1"/>
          </p:cNvSpPr>
          <p:nvPr/>
        </p:nvSpPr>
        <p:spPr>
          <a:xfrm>
            <a:off x="7486650" y="1581150"/>
            <a:ext cx="4133850" cy="1809750"/>
          </a:xfrm>
          <a:prstGeom prst="roundRect">
            <a:avLst>
              <a:gd name="adj" fmla="val 4211"/>
            </a:avLst>
          </a:prstGeom>
          <a:solidFill>
            <a:srgbClr val="EAF6FC"/>
          </a:solidFill>
          <a:ln w="19050">
            <a:solidFill>
              <a:srgbClr val="6DCBF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luad-name">
            <a:extLst>
              <a:ext uri="{FF2B5EF4-FFF2-40B4-BE49-F238E27FC236}">
                <a16:creationId xmlns:a16="http://schemas.microsoft.com/office/drawing/2014/main" id="{B85D214C-34B4-4A92-A061-1AB677C10706}"/>
              </a:ext>
            </a:extLst>
          </p:cNvPr>
          <p:cNvSpPr>
            <a:spLocks noGrp="1"/>
          </p:cNvSpPr>
          <p:nvPr/>
        </p:nvSpPr>
        <p:spPr>
          <a:xfrm>
            <a:off x="7791450" y="1866900"/>
            <a:ext cx="2286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1875" lnSpcReduction="10000"/>
          </a:bodyPr>
          <a:lstStyle/>
          <a:p>
            <a:pPr algn="l">
              <a:defRPr sz="24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TCGA-LUAD</a:t>
            </a:r>
          </a:p>
        </p:txBody>
      </p:sp>
      <p:sp>
        <p:nvSpPr>
          <p:cNvPr id="8" name="luad-fit-bg">
            <a:extLst>
              <a:ext uri="{FF2B5EF4-FFF2-40B4-BE49-F238E27FC236}">
                <a16:creationId xmlns:a16="http://schemas.microsoft.com/office/drawing/2014/main" id="{A1495B11-8FF2-402E-ACA8-E9C040D63551}"/>
              </a:ext>
            </a:extLst>
          </p:cNvPr>
          <p:cNvSpPr>
            <a:spLocks noGrp="1"/>
          </p:cNvSpPr>
          <p:nvPr/>
        </p:nvSpPr>
        <p:spPr>
          <a:xfrm>
            <a:off x="10287000" y="1847850"/>
            <a:ext cx="990600" cy="342900"/>
          </a:xfrm>
          <a:prstGeom prst="roundRect">
            <a:avLst>
              <a:gd name="adj" fmla="val 50000"/>
            </a:avLst>
          </a:prstGeom>
          <a:solidFill>
            <a:srgbClr val="E4F5EF"/>
          </a:solidFill>
          <a:ln w="0">
            <a:solidFill>
              <a:srgbClr val="E4F5E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luad-fit">
            <a:extLst>
              <a:ext uri="{FF2B5EF4-FFF2-40B4-BE49-F238E27FC236}">
                <a16:creationId xmlns:a16="http://schemas.microsoft.com/office/drawing/2014/main" id="{1BE93E53-5531-4575-8B1F-CB07B22EF217}"/>
              </a:ext>
            </a:extLst>
          </p:cNvPr>
          <p:cNvSpPr>
            <a:spLocks noGrp="1"/>
          </p:cNvSpPr>
          <p:nvPr/>
        </p:nvSpPr>
        <p:spPr>
          <a:xfrm>
            <a:off x="10287000" y="1876425"/>
            <a:ext cx="990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6667" lnSpcReduction="10000"/>
          </a:bodyPr>
          <a:lstStyle/>
          <a:p>
            <a:pPr algn="ctr">
              <a:defRPr sz="1500" b="1">
                <a:solidFill>
                  <a:srgbClr val="168A6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8A64"/>
                </a:solidFill>
                <a:latin typeface="Microsoft JhengHei"/>
                <a:ea typeface="Microsoft JhengHei"/>
                <a:cs typeface="Microsoft JhengHei"/>
              </a:rPr>
              <a:t>FIT</a:t>
            </a:r>
          </a:p>
        </p:txBody>
      </p:sp>
      <p:sp>
        <p:nvSpPr>
          <p:cNvPr id="10" name="luad-stats">
            <a:extLst>
              <a:ext uri="{FF2B5EF4-FFF2-40B4-BE49-F238E27FC236}">
                <a16:creationId xmlns:a16="http://schemas.microsoft.com/office/drawing/2014/main" id="{0F5608C8-3573-47D5-8D19-DCBA5718CC06}"/>
              </a:ext>
            </a:extLst>
          </p:cNvPr>
          <p:cNvSpPr>
            <a:spLocks noGrp="1"/>
          </p:cNvSpPr>
          <p:nvPr/>
        </p:nvSpPr>
        <p:spPr>
          <a:xfrm>
            <a:off x="7791450" y="2400300"/>
            <a:ext cx="35242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650" b="1">
                <a:solidFill>
                  <a:srgbClr val="005EA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05EA8"/>
                </a:solidFill>
                <a:latin typeface="Microsoft JhengHei"/>
                <a:ea typeface="Microsoft JhengHei"/>
                <a:cs typeface="Microsoft JhengHei"/>
              </a:rPr>
              <a:t>585 cases</a:t>
            </a:r>
          </a:p>
          <a:p>
            <a:pPr algn="l">
              <a:defRPr sz="1650" b="1">
                <a:solidFill>
                  <a:srgbClr val="005EA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05EA8"/>
                </a:solidFill>
                <a:latin typeface="Microsoft JhengHei"/>
                <a:ea typeface="Microsoft JhengHei"/>
                <a:cs typeface="Microsoft JhengHei"/>
              </a:rPr>
              <a:t>14,053 open  ·  22,171 controlled</a:t>
            </a:r>
          </a:p>
        </p:txBody>
      </p:sp>
      <p:sp>
        <p:nvSpPr>
          <p:cNvPr id="11" name="lusc-result">
            <a:extLst>
              <a:ext uri="{FF2B5EF4-FFF2-40B4-BE49-F238E27FC236}">
                <a16:creationId xmlns:a16="http://schemas.microsoft.com/office/drawing/2014/main" id="{16347F98-B200-49B9-9595-BCF0D7CD81C7}"/>
              </a:ext>
            </a:extLst>
          </p:cNvPr>
          <p:cNvSpPr>
            <a:spLocks noGrp="1"/>
          </p:cNvSpPr>
          <p:nvPr/>
        </p:nvSpPr>
        <p:spPr>
          <a:xfrm>
            <a:off x="7486650" y="3619500"/>
            <a:ext cx="4133850" cy="1809750"/>
          </a:xfrm>
          <a:prstGeom prst="roundRect">
            <a:avLst>
              <a:gd name="adj" fmla="val 4211"/>
            </a:avLst>
          </a:prstGeom>
          <a:solidFill>
            <a:srgbClr val="F1F3F5"/>
          </a:solidFill>
          <a:ln w="9525">
            <a:solidFill>
              <a:srgbClr val="B8C0C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lusc-name">
            <a:extLst>
              <a:ext uri="{FF2B5EF4-FFF2-40B4-BE49-F238E27FC236}">
                <a16:creationId xmlns:a16="http://schemas.microsoft.com/office/drawing/2014/main" id="{3EFBFFB8-D976-4040-9F25-ED2BA149E831}"/>
              </a:ext>
            </a:extLst>
          </p:cNvPr>
          <p:cNvSpPr>
            <a:spLocks noGrp="1"/>
          </p:cNvSpPr>
          <p:nvPr/>
        </p:nvSpPr>
        <p:spPr>
          <a:xfrm>
            <a:off x="7791450" y="3905250"/>
            <a:ext cx="2286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1875" lnSpcReduction="10000"/>
          </a:bodyPr>
          <a:lstStyle/>
          <a:p>
            <a:pPr algn="l">
              <a:defRPr sz="24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TCGA-LUSC</a:t>
            </a:r>
          </a:p>
        </p:txBody>
      </p:sp>
      <p:sp>
        <p:nvSpPr>
          <p:cNvPr id="13" name="lusc-fit-bg">
            <a:extLst>
              <a:ext uri="{FF2B5EF4-FFF2-40B4-BE49-F238E27FC236}">
                <a16:creationId xmlns:a16="http://schemas.microsoft.com/office/drawing/2014/main" id="{F72FFE2D-9CC6-45FE-AD78-AA4ED1081627}"/>
              </a:ext>
            </a:extLst>
          </p:cNvPr>
          <p:cNvSpPr>
            <a:spLocks noGrp="1"/>
          </p:cNvSpPr>
          <p:nvPr/>
        </p:nvSpPr>
        <p:spPr>
          <a:xfrm>
            <a:off x="10287000" y="3886200"/>
            <a:ext cx="990600" cy="342900"/>
          </a:xfrm>
          <a:prstGeom prst="roundRect">
            <a:avLst>
              <a:gd name="adj" fmla="val 50000"/>
            </a:avLst>
          </a:prstGeom>
          <a:solidFill>
            <a:srgbClr val="E4F5EF"/>
          </a:solidFill>
          <a:ln w="0">
            <a:solidFill>
              <a:srgbClr val="E4F5E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lusc-fit">
            <a:extLst>
              <a:ext uri="{FF2B5EF4-FFF2-40B4-BE49-F238E27FC236}">
                <a16:creationId xmlns:a16="http://schemas.microsoft.com/office/drawing/2014/main" id="{08FDAC71-DC06-42AB-83B5-BDF175AB19FC}"/>
              </a:ext>
            </a:extLst>
          </p:cNvPr>
          <p:cNvSpPr>
            <a:spLocks noGrp="1"/>
          </p:cNvSpPr>
          <p:nvPr/>
        </p:nvSpPr>
        <p:spPr>
          <a:xfrm>
            <a:off x="10287000" y="3914775"/>
            <a:ext cx="990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6667" lnSpcReduction="10000"/>
          </a:bodyPr>
          <a:lstStyle/>
          <a:p>
            <a:pPr algn="ctr">
              <a:defRPr sz="1500" b="1">
                <a:solidFill>
                  <a:srgbClr val="168A6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8A64"/>
                </a:solidFill>
                <a:latin typeface="Microsoft JhengHei"/>
                <a:ea typeface="Microsoft JhengHei"/>
                <a:cs typeface="Microsoft JhengHei"/>
              </a:rPr>
              <a:t>FIT</a:t>
            </a:r>
          </a:p>
        </p:txBody>
      </p:sp>
      <p:sp>
        <p:nvSpPr>
          <p:cNvPr id="15" name="lusc-stats">
            <a:extLst>
              <a:ext uri="{FF2B5EF4-FFF2-40B4-BE49-F238E27FC236}">
                <a16:creationId xmlns:a16="http://schemas.microsoft.com/office/drawing/2014/main" id="{19D93B40-7C40-4289-8948-3A2D03BBA814}"/>
              </a:ext>
            </a:extLst>
          </p:cNvPr>
          <p:cNvSpPr>
            <a:spLocks noGrp="1"/>
          </p:cNvSpPr>
          <p:nvPr/>
        </p:nvSpPr>
        <p:spPr>
          <a:xfrm>
            <a:off x="7791450" y="4438650"/>
            <a:ext cx="35242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650" b="1">
                <a:solidFill>
                  <a:srgbClr val="005EA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05EA8"/>
                </a:solidFill>
                <a:latin typeface="Microsoft JhengHei"/>
                <a:ea typeface="Microsoft JhengHei"/>
                <a:cs typeface="Microsoft JhengHei"/>
              </a:rPr>
              <a:t>504 cases</a:t>
            </a:r>
          </a:p>
          <a:p>
            <a:pPr algn="l">
              <a:defRPr sz="1650" b="1">
                <a:solidFill>
                  <a:srgbClr val="005EA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05EA8"/>
                </a:solidFill>
                <a:latin typeface="Microsoft JhengHei"/>
                <a:ea typeface="Microsoft JhengHei"/>
                <a:cs typeface="Microsoft JhengHei"/>
              </a:rPr>
              <a:t>13,139 open  ·  18,926 controlled</a:t>
            </a:r>
          </a:p>
        </p:txBody>
      </p:sp>
      <p:sp>
        <p:nvSpPr>
          <p:cNvPr id="16" name="result-limit">
            <a:extLst>
              <a:ext uri="{FF2B5EF4-FFF2-40B4-BE49-F238E27FC236}">
                <a16:creationId xmlns:a16="http://schemas.microsoft.com/office/drawing/2014/main" id="{4A1553C4-E7F4-4F7A-9B56-3E86DE49C858}"/>
              </a:ext>
            </a:extLst>
          </p:cNvPr>
          <p:cNvSpPr>
            <a:spLocks noGrp="1"/>
          </p:cNvSpPr>
          <p:nvPr/>
        </p:nvSpPr>
        <p:spPr>
          <a:xfrm>
            <a:off x="7486650" y="5581650"/>
            <a:ext cx="4095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242"/>
          </a:bodyPr>
          <a:lstStyle/>
          <a:p>
            <a:pPr algn="l">
              <a:defRPr sz="165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days_to_death 僅適用死亡個案；</a:t>
            </a:r>
          </a:p>
          <a:p>
            <a:pPr algn="l">
              <a:defRPr sz="165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不以全部 project cases 計算完整率。</a:t>
            </a:r>
          </a:p>
        </p:txBody>
      </p:sp>
      <p:sp>
        <p:nvSpPr>
          <p:cNvPr id="17" name="source-Source: ">
            <a:extLst>
              <a:ext uri="{FF2B5EF4-FFF2-40B4-BE49-F238E27FC236}">
                <a16:creationId xmlns:a16="http://schemas.microsoft.com/office/drawing/2014/main" id="{3402E6E0-D758-420A-966E-99E45EE27506}"/>
              </a:ext>
            </a:extLst>
          </p:cNvPr>
          <p:cNvSpPr>
            <a:spLocks noGrp="1"/>
          </p:cNvSpPr>
          <p:nvPr/>
        </p:nvSpPr>
        <p:spPr>
          <a:xfrm>
            <a:off x="533400" y="6334125"/>
            <a:ext cx="1028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9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Source: outputs/latest/dataset_cards.csv · retrieved 2026-07-12</a:t>
            </a:r>
          </a:p>
        </p:txBody>
      </p:sp>
    </p:spTree>
    <p:extLst>
      <p:ext uri="{BB962C8B-B14F-4D97-AF65-F5344CB8AC3E}">
        <p14:creationId xmlns:p14="http://schemas.microsoft.com/office/powerpoint/2010/main" val="15779562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eyebrow-6">
            <a:extLst>
              <a:ext uri="{FF2B5EF4-FFF2-40B4-BE49-F238E27FC236}">
                <a16:creationId xmlns:a16="http://schemas.microsoft.com/office/drawing/2014/main" id="{553D4022-85EE-4DE3-AC1B-A3E4103093E2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3214" lnSpcReduction="10000"/>
          </a:bodyPr>
          <a:lstStyle/>
          <a:p>
            <a:pPr algn="l">
              <a:defRPr sz="1050" b="1">
                <a:solidFill>
                  <a:srgbClr val="005EA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005EA8"/>
                </a:solidFill>
                <a:latin typeface="Microsoft JhengHei"/>
                <a:ea typeface="Microsoft JhengHei"/>
                <a:cs typeface="Microsoft JhengHei"/>
              </a:rPr>
              <a:t>05 · HARNESS</a:t>
            </a:r>
          </a:p>
        </p:txBody>
      </p:sp>
      <p:sp>
        <p:nvSpPr>
          <p:cNvPr id="2" name="title-6">
            <a:extLst>
              <a:ext uri="{FF2B5EF4-FFF2-40B4-BE49-F238E27FC236}">
                <a16:creationId xmlns:a16="http://schemas.microsoft.com/office/drawing/2014/main" id="{F290A7B0-C5B1-4961-A402-DA161A8B5595}"/>
              </a:ext>
            </a:extLst>
          </p:cNvPr>
          <p:cNvSpPr>
            <a:spLocks noGrp="1"/>
          </p:cNvSpPr>
          <p:nvPr/>
        </p:nvSpPr>
        <p:spPr>
          <a:xfrm>
            <a:off x="533400" y="685800"/>
            <a:ext cx="107632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36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Workflow 不只在順利時工作</a:t>
            </a:r>
          </a:p>
        </p:txBody>
      </p:sp>
      <p:sp>
        <p:nvSpPr>
          <p:cNvPr id="3" name="page-6">
            <a:extLst>
              <a:ext uri="{FF2B5EF4-FFF2-40B4-BE49-F238E27FC236}">
                <a16:creationId xmlns:a16="http://schemas.microsoft.com/office/drawing/2014/main" id="{492E8EFC-A4A1-4CFD-A08C-572812FD48BF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419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1667" lnSpcReduction="20000"/>
          </a:bodyPr>
          <a:lstStyle/>
          <a:p>
            <a:pPr algn="r">
              <a:defRPr sz="9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4" name="case-0">
            <a:extLst>
              <a:ext uri="{FF2B5EF4-FFF2-40B4-BE49-F238E27FC236}">
                <a16:creationId xmlns:a16="http://schemas.microsoft.com/office/drawing/2014/main" id="{140F2B29-45D0-4F76-9E16-8653175D63FD}"/>
              </a:ext>
            </a:extLst>
          </p:cNvPr>
          <p:cNvSpPr>
            <a:spLocks noGrp="1"/>
          </p:cNvSpPr>
          <p:nvPr/>
        </p:nvSpPr>
        <p:spPr>
          <a:xfrm>
            <a:off x="533400" y="1676400"/>
            <a:ext cx="5162550" cy="1790700"/>
          </a:xfrm>
          <a:prstGeom prst="roundRect">
            <a:avLst>
              <a:gd name="adj" fmla="val 4255"/>
            </a:avLst>
          </a:prstGeom>
          <a:solidFill>
            <a:srgbClr val="E4F5EF"/>
          </a:solidFill>
          <a:ln w="19050">
            <a:solidFill>
              <a:srgbClr val="168A6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case-name-0">
            <a:extLst>
              <a:ext uri="{FF2B5EF4-FFF2-40B4-BE49-F238E27FC236}">
                <a16:creationId xmlns:a16="http://schemas.microsoft.com/office/drawing/2014/main" id="{B5F81EED-CC06-428A-ABCC-2DA2B1815E75}"/>
              </a:ext>
            </a:extLst>
          </p:cNvPr>
          <p:cNvSpPr>
            <a:spLocks noGrp="1"/>
          </p:cNvSpPr>
          <p:nvPr/>
        </p:nvSpPr>
        <p:spPr>
          <a:xfrm>
            <a:off x="800100" y="1924050"/>
            <a:ext cx="2381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1944" lnSpcReduction="10000"/>
          </a:bodyPr>
          <a:lstStyle/>
          <a:p>
            <a:pPr algn="l">
              <a:defRPr sz="2250" b="1">
                <a:solidFill>
                  <a:srgbClr val="168A6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8A64"/>
                </a:solidFill>
                <a:latin typeface="Microsoft JhengHei"/>
                <a:ea typeface="Microsoft JhengHei"/>
                <a:cs typeface="Microsoft JhengHei"/>
              </a:rPr>
              <a:t>NORMAL</a:t>
            </a:r>
          </a:p>
        </p:txBody>
      </p:sp>
      <p:sp>
        <p:nvSpPr>
          <p:cNvPr id="6" name="case-result-0-bg">
            <a:extLst>
              <a:ext uri="{FF2B5EF4-FFF2-40B4-BE49-F238E27FC236}">
                <a16:creationId xmlns:a16="http://schemas.microsoft.com/office/drawing/2014/main" id="{57FEA78C-091A-49C7-9C5B-ABE73EA42366}"/>
              </a:ext>
            </a:extLst>
          </p:cNvPr>
          <p:cNvSpPr>
            <a:spLocks noGrp="1"/>
          </p:cNvSpPr>
          <p:nvPr/>
        </p:nvSpPr>
        <p:spPr>
          <a:xfrm>
            <a:off x="4171950" y="1905000"/>
            <a:ext cx="1181100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case-result-0">
            <a:extLst>
              <a:ext uri="{FF2B5EF4-FFF2-40B4-BE49-F238E27FC236}">
                <a16:creationId xmlns:a16="http://schemas.microsoft.com/office/drawing/2014/main" id="{DDB9BC18-1391-4CA4-ACFA-3B7A8AAC6F08}"/>
              </a:ext>
            </a:extLst>
          </p:cNvPr>
          <p:cNvSpPr>
            <a:spLocks noGrp="1"/>
          </p:cNvSpPr>
          <p:nvPr/>
        </p:nvSpPr>
        <p:spPr>
          <a:xfrm>
            <a:off x="4171950" y="1933575"/>
            <a:ext cx="1181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4167" lnSpcReduction="20000"/>
          </a:bodyPr>
          <a:lstStyle/>
          <a:p>
            <a:pPr algn="ctr">
              <a:defRPr sz="1500" b="1">
                <a:solidFill>
                  <a:srgbClr val="168A6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8A64"/>
                </a:solidFill>
                <a:latin typeface="Microsoft JhengHei"/>
                <a:ea typeface="Microsoft JhengHei"/>
                <a:cs typeface="Microsoft JhengHei"/>
              </a:rPr>
              <a:t>PASS</a:t>
            </a:r>
          </a:p>
        </p:txBody>
      </p:sp>
      <p:sp>
        <p:nvSpPr>
          <p:cNvPr id="8" name="case-body-0">
            <a:extLst>
              <a:ext uri="{FF2B5EF4-FFF2-40B4-BE49-F238E27FC236}">
                <a16:creationId xmlns:a16="http://schemas.microsoft.com/office/drawing/2014/main" id="{2F47387B-EA11-4D5A-8CD9-B1DAF484E7AC}"/>
              </a:ext>
            </a:extLst>
          </p:cNvPr>
          <p:cNvSpPr>
            <a:spLocks noGrp="1"/>
          </p:cNvSpPr>
          <p:nvPr/>
        </p:nvSpPr>
        <p:spPr>
          <a:xfrm>
            <a:off x="800100" y="2514600"/>
            <a:ext cx="44767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7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兩張 live project cards</a:t>
            </a:r>
          </a:p>
          <a:p>
            <a:pPr algn="l">
              <a:defRPr sz="17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皆可解析 evidence IDs</a:t>
            </a:r>
          </a:p>
        </p:txBody>
      </p:sp>
      <p:sp>
        <p:nvSpPr>
          <p:cNvPr id="9" name="case-1">
            <a:extLst>
              <a:ext uri="{FF2B5EF4-FFF2-40B4-BE49-F238E27FC236}">
                <a16:creationId xmlns:a16="http://schemas.microsoft.com/office/drawing/2014/main" id="{1582868F-29E5-4F57-A0C6-4AFA3B0BF57F}"/>
              </a:ext>
            </a:extLst>
          </p:cNvPr>
          <p:cNvSpPr>
            <a:spLocks noGrp="1"/>
          </p:cNvSpPr>
          <p:nvPr/>
        </p:nvSpPr>
        <p:spPr>
          <a:xfrm>
            <a:off x="6191250" y="1676400"/>
            <a:ext cx="5162550" cy="1790700"/>
          </a:xfrm>
          <a:prstGeom prst="roundRect">
            <a:avLst>
              <a:gd name="adj" fmla="val 4255"/>
            </a:avLst>
          </a:prstGeom>
          <a:solidFill>
            <a:srgbClr val="FCEBE8"/>
          </a:solidFill>
          <a:ln w="19050">
            <a:solidFill>
              <a:srgbClr val="C4453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case-name-1">
            <a:extLst>
              <a:ext uri="{FF2B5EF4-FFF2-40B4-BE49-F238E27FC236}">
                <a16:creationId xmlns:a16="http://schemas.microsoft.com/office/drawing/2014/main" id="{618E62B9-831C-4CA9-9D0A-A27D05DA1A99}"/>
              </a:ext>
            </a:extLst>
          </p:cNvPr>
          <p:cNvSpPr>
            <a:spLocks noGrp="1"/>
          </p:cNvSpPr>
          <p:nvPr/>
        </p:nvSpPr>
        <p:spPr>
          <a:xfrm>
            <a:off x="6457950" y="1924050"/>
            <a:ext cx="2381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1944" lnSpcReduction="10000"/>
          </a:bodyPr>
          <a:lstStyle/>
          <a:p>
            <a:pPr algn="l">
              <a:defRPr sz="2250" b="1">
                <a:solidFill>
                  <a:srgbClr val="C445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C44536"/>
                </a:solidFill>
                <a:latin typeface="Microsoft JhengHei"/>
                <a:ea typeface="Microsoft JhengHei"/>
                <a:cs typeface="Microsoft JhengHei"/>
              </a:rPr>
              <a:t>SCHEMA</a:t>
            </a:r>
          </a:p>
        </p:txBody>
      </p:sp>
      <p:sp>
        <p:nvSpPr>
          <p:cNvPr id="11" name="case-result-1-bg">
            <a:extLst>
              <a:ext uri="{FF2B5EF4-FFF2-40B4-BE49-F238E27FC236}">
                <a16:creationId xmlns:a16="http://schemas.microsoft.com/office/drawing/2014/main" id="{1582BED1-A778-4050-971E-F4D127F574FA}"/>
              </a:ext>
            </a:extLst>
          </p:cNvPr>
          <p:cNvSpPr>
            <a:spLocks noGrp="1"/>
          </p:cNvSpPr>
          <p:nvPr/>
        </p:nvSpPr>
        <p:spPr>
          <a:xfrm>
            <a:off x="9829800" y="1905000"/>
            <a:ext cx="1181100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case-result-1">
            <a:extLst>
              <a:ext uri="{FF2B5EF4-FFF2-40B4-BE49-F238E27FC236}">
                <a16:creationId xmlns:a16="http://schemas.microsoft.com/office/drawing/2014/main" id="{60D40536-5969-4BFF-9852-039D7863F2AD}"/>
              </a:ext>
            </a:extLst>
          </p:cNvPr>
          <p:cNvSpPr>
            <a:spLocks noGrp="1"/>
          </p:cNvSpPr>
          <p:nvPr/>
        </p:nvSpPr>
        <p:spPr>
          <a:xfrm>
            <a:off x="9829800" y="1933575"/>
            <a:ext cx="1181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4167" lnSpcReduction="20000"/>
          </a:bodyPr>
          <a:lstStyle/>
          <a:p>
            <a:pPr algn="ctr">
              <a:defRPr sz="1500" b="1">
                <a:solidFill>
                  <a:srgbClr val="C445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C44536"/>
                </a:solidFill>
                <a:latin typeface="Microsoft JhengHei"/>
                <a:ea typeface="Microsoft JhengHei"/>
                <a:cs typeface="Microsoft JhengHei"/>
              </a:rPr>
              <a:t>BLOCK</a:t>
            </a:r>
          </a:p>
        </p:txBody>
      </p:sp>
      <p:sp>
        <p:nvSpPr>
          <p:cNvPr id="13" name="case-body-1">
            <a:extLst>
              <a:ext uri="{FF2B5EF4-FFF2-40B4-BE49-F238E27FC236}">
                <a16:creationId xmlns:a16="http://schemas.microsoft.com/office/drawing/2014/main" id="{EFE52E8A-ADFF-4AB8-8EDD-382C97EF2D26}"/>
              </a:ext>
            </a:extLst>
          </p:cNvPr>
          <p:cNvSpPr>
            <a:spLocks noGrp="1"/>
          </p:cNvSpPr>
          <p:nvPr/>
        </p:nvSpPr>
        <p:spPr>
          <a:xfrm>
            <a:off x="6457950" y="2514600"/>
            <a:ext cx="44767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7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缺 project_id / evidence_ids</a:t>
            </a:r>
          </a:p>
          <a:p>
            <a:pPr algn="l">
              <a:defRPr sz="17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→ validator 拒絕輸出</a:t>
            </a:r>
          </a:p>
        </p:txBody>
      </p:sp>
      <p:sp>
        <p:nvSpPr>
          <p:cNvPr id="14" name="case-2">
            <a:extLst>
              <a:ext uri="{FF2B5EF4-FFF2-40B4-BE49-F238E27FC236}">
                <a16:creationId xmlns:a16="http://schemas.microsoft.com/office/drawing/2014/main" id="{FB5DB85C-0251-4230-AA71-E48F1D8F6F4B}"/>
              </a:ext>
            </a:extLst>
          </p:cNvPr>
          <p:cNvSpPr>
            <a:spLocks noGrp="1"/>
          </p:cNvSpPr>
          <p:nvPr/>
        </p:nvSpPr>
        <p:spPr>
          <a:xfrm>
            <a:off x="533400" y="3867150"/>
            <a:ext cx="5162550" cy="1790700"/>
          </a:xfrm>
          <a:prstGeom prst="roundRect">
            <a:avLst>
              <a:gd name="adj" fmla="val 4255"/>
            </a:avLst>
          </a:prstGeom>
          <a:solidFill>
            <a:srgbClr val="FFF4D9"/>
          </a:solidFill>
          <a:ln w="19050">
            <a:solidFill>
              <a:srgbClr val="D48A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case-name-2">
            <a:extLst>
              <a:ext uri="{FF2B5EF4-FFF2-40B4-BE49-F238E27FC236}">
                <a16:creationId xmlns:a16="http://schemas.microsoft.com/office/drawing/2014/main" id="{34F09087-3CF3-4F82-A04D-76A8C3D42E54}"/>
              </a:ext>
            </a:extLst>
          </p:cNvPr>
          <p:cNvSpPr>
            <a:spLocks noGrp="1"/>
          </p:cNvSpPr>
          <p:nvPr/>
        </p:nvSpPr>
        <p:spPr>
          <a:xfrm>
            <a:off x="800100" y="4114800"/>
            <a:ext cx="2381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1944" lnSpcReduction="10000"/>
          </a:bodyPr>
          <a:lstStyle/>
          <a:p>
            <a:pPr algn="l">
              <a:defRPr sz="2250" b="1">
                <a:solidFill>
                  <a:srgbClr val="D48A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D48A00"/>
                </a:solidFill>
                <a:latin typeface="Microsoft JhengHei"/>
                <a:ea typeface="Microsoft JhengHei"/>
                <a:cs typeface="Microsoft JhengHei"/>
              </a:rPr>
              <a:t>NOT_FOUND</a:t>
            </a:r>
          </a:p>
        </p:txBody>
      </p:sp>
      <p:sp>
        <p:nvSpPr>
          <p:cNvPr id="16" name="case-result-2-bg">
            <a:extLst>
              <a:ext uri="{FF2B5EF4-FFF2-40B4-BE49-F238E27FC236}">
                <a16:creationId xmlns:a16="http://schemas.microsoft.com/office/drawing/2014/main" id="{49651E20-054B-4ECB-BCE4-EA626B49EBF5}"/>
              </a:ext>
            </a:extLst>
          </p:cNvPr>
          <p:cNvSpPr>
            <a:spLocks noGrp="1"/>
          </p:cNvSpPr>
          <p:nvPr/>
        </p:nvSpPr>
        <p:spPr>
          <a:xfrm>
            <a:off x="4171950" y="4095750"/>
            <a:ext cx="1181100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case-result-2">
            <a:extLst>
              <a:ext uri="{FF2B5EF4-FFF2-40B4-BE49-F238E27FC236}">
                <a16:creationId xmlns:a16="http://schemas.microsoft.com/office/drawing/2014/main" id="{3B4B34A5-D124-4366-885F-3886B688FF7C}"/>
              </a:ext>
            </a:extLst>
          </p:cNvPr>
          <p:cNvSpPr>
            <a:spLocks noGrp="1"/>
          </p:cNvSpPr>
          <p:nvPr/>
        </p:nvSpPr>
        <p:spPr>
          <a:xfrm>
            <a:off x="4171950" y="4124325"/>
            <a:ext cx="1181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4167" lnSpcReduction="20000"/>
          </a:bodyPr>
          <a:lstStyle/>
          <a:p>
            <a:pPr algn="ctr">
              <a:defRPr sz="1500" b="1">
                <a:solidFill>
                  <a:srgbClr val="D48A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D48A00"/>
                </a:solidFill>
                <a:latin typeface="Microsoft JhengHei"/>
                <a:ea typeface="Microsoft JhengHei"/>
                <a:cs typeface="Microsoft JhengHei"/>
              </a:rPr>
              <a:t>STOP</a:t>
            </a:r>
          </a:p>
        </p:txBody>
      </p:sp>
      <p:sp>
        <p:nvSpPr>
          <p:cNvPr id="18" name="case-body-2">
            <a:extLst>
              <a:ext uri="{FF2B5EF4-FFF2-40B4-BE49-F238E27FC236}">
                <a16:creationId xmlns:a16="http://schemas.microsoft.com/office/drawing/2014/main" id="{A9EF21B8-456C-48E4-A4C2-CE770F3F6A58}"/>
              </a:ext>
            </a:extLst>
          </p:cNvPr>
          <p:cNvSpPr>
            <a:spLocks noGrp="1"/>
          </p:cNvSpPr>
          <p:nvPr/>
        </p:nvSpPr>
        <p:spPr>
          <a:xfrm>
            <a:off x="800100" y="4705350"/>
            <a:ext cx="44767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7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空 hits → not_found</a:t>
            </a:r>
          </a:p>
          <a:p>
            <a:pPr algn="l">
              <a:defRPr sz="17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不自動改查其他 dataset</a:t>
            </a:r>
          </a:p>
        </p:txBody>
      </p:sp>
      <p:sp>
        <p:nvSpPr>
          <p:cNvPr id="19" name="case-3">
            <a:extLst>
              <a:ext uri="{FF2B5EF4-FFF2-40B4-BE49-F238E27FC236}">
                <a16:creationId xmlns:a16="http://schemas.microsoft.com/office/drawing/2014/main" id="{3D461F9E-321F-49B9-B670-D31A1CE98B43}"/>
              </a:ext>
            </a:extLst>
          </p:cNvPr>
          <p:cNvSpPr>
            <a:spLocks noGrp="1"/>
          </p:cNvSpPr>
          <p:nvPr/>
        </p:nvSpPr>
        <p:spPr>
          <a:xfrm>
            <a:off x="6191250" y="3867150"/>
            <a:ext cx="5162550" cy="1790700"/>
          </a:xfrm>
          <a:prstGeom prst="roundRect">
            <a:avLst>
              <a:gd name="adj" fmla="val 4255"/>
            </a:avLst>
          </a:prstGeom>
          <a:solidFill>
            <a:srgbClr val="EAF6FC"/>
          </a:solidFill>
          <a:ln w="19050">
            <a:solidFill>
              <a:srgbClr val="1877C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case-name-3">
            <a:extLst>
              <a:ext uri="{FF2B5EF4-FFF2-40B4-BE49-F238E27FC236}">
                <a16:creationId xmlns:a16="http://schemas.microsoft.com/office/drawing/2014/main" id="{98D0BB45-4717-465A-BFF8-39AE89A50DC2}"/>
              </a:ext>
            </a:extLst>
          </p:cNvPr>
          <p:cNvSpPr>
            <a:spLocks noGrp="1"/>
          </p:cNvSpPr>
          <p:nvPr/>
        </p:nvSpPr>
        <p:spPr>
          <a:xfrm>
            <a:off x="6457950" y="4114800"/>
            <a:ext cx="2381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1944" lnSpcReduction="10000"/>
          </a:bodyPr>
          <a:lstStyle/>
          <a:p>
            <a:pPr algn="l">
              <a:defRPr sz="2250" b="1">
                <a:solidFill>
                  <a:srgbClr val="005EA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05EA8"/>
                </a:solidFill>
                <a:latin typeface="Microsoft JhengHei"/>
                <a:ea typeface="Microsoft JhengHei"/>
                <a:cs typeface="Microsoft JhengHei"/>
              </a:rPr>
              <a:t>CONFLICT</a:t>
            </a:r>
          </a:p>
        </p:txBody>
      </p:sp>
      <p:sp>
        <p:nvSpPr>
          <p:cNvPr id="21" name="case-result-3-bg">
            <a:extLst>
              <a:ext uri="{FF2B5EF4-FFF2-40B4-BE49-F238E27FC236}">
                <a16:creationId xmlns:a16="http://schemas.microsoft.com/office/drawing/2014/main" id="{CF13B605-CC2B-4C85-ACF3-AFA62B9DC7C4}"/>
              </a:ext>
            </a:extLst>
          </p:cNvPr>
          <p:cNvSpPr>
            <a:spLocks noGrp="1"/>
          </p:cNvSpPr>
          <p:nvPr/>
        </p:nvSpPr>
        <p:spPr>
          <a:xfrm>
            <a:off x="9829800" y="4095750"/>
            <a:ext cx="1181100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case-result-3">
            <a:extLst>
              <a:ext uri="{FF2B5EF4-FFF2-40B4-BE49-F238E27FC236}">
                <a16:creationId xmlns:a16="http://schemas.microsoft.com/office/drawing/2014/main" id="{98EB57EE-8E28-419A-A6EC-37B2E319305A}"/>
              </a:ext>
            </a:extLst>
          </p:cNvPr>
          <p:cNvSpPr>
            <a:spLocks noGrp="1"/>
          </p:cNvSpPr>
          <p:nvPr/>
        </p:nvSpPr>
        <p:spPr>
          <a:xfrm>
            <a:off x="9829800" y="4124325"/>
            <a:ext cx="1181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4167" lnSpcReduction="20000"/>
          </a:bodyPr>
          <a:lstStyle/>
          <a:p>
            <a:pPr algn="ctr">
              <a:defRPr sz="1500" b="1">
                <a:solidFill>
                  <a:srgbClr val="005EA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005EA8"/>
                </a:solidFill>
                <a:latin typeface="Microsoft JhengHei"/>
                <a:ea typeface="Microsoft JhengHei"/>
                <a:cs typeface="Microsoft JhengHei"/>
              </a:rPr>
              <a:t>REVIEW</a:t>
            </a:r>
          </a:p>
        </p:txBody>
      </p:sp>
      <p:sp>
        <p:nvSpPr>
          <p:cNvPr id="23" name="case-body-3">
            <a:extLst>
              <a:ext uri="{FF2B5EF4-FFF2-40B4-BE49-F238E27FC236}">
                <a16:creationId xmlns:a16="http://schemas.microsoft.com/office/drawing/2014/main" id="{25AF8A5F-7145-42DF-8F12-C3185B222F87}"/>
              </a:ext>
            </a:extLst>
          </p:cNvPr>
          <p:cNvSpPr>
            <a:spLocks noGrp="1"/>
          </p:cNvSpPr>
          <p:nvPr/>
        </p:nvSpPr>
        <p:spPr>
          <a:xfrm>
            <a:off x="6457950" y="4705350"/>
            <a:ext cx="44767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7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claim 不在 mapping</a:t>
            </a:r>
          </a:p>
          <a:p>
            <a:pPr algn="l">
              <a:defRPr sz="17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→ unverified + 人工關卡</a:t>
            </a:r>
          </a:p>
        </p:txBody>
      </p:sp>
      <p:sp>
        <p:nvSpPr>
          <p:cNvPr id="24" name="harness-note">
            <a:extLst>
              <a:ext uri="{FF2B5EF4-FFF2-40B4-BE49-F238E27FC236}">
                <a16:creationId xmlns:a16="http://schemas.microsoft.com/office/drawing/2014/main" id="{D4506A15-5002-47B8-BEF5-15382DA99524}"/>
              </a:ext>
            </a:extLst>
          </p:cNvPr>
          <p:cNvSpPr>
            <a:spLocks noGrp="1"/>
          </p:cNvSpPr>
          <p:nvPr/>
        </p:nvSpPr>
        <p:spPr>
          <a:xfrm>
            <a:off x="609600" y="5943600"/>
            <a:ext cx="1057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924" lnSpcReduction="10000"/>
          </a:bodyPr>
          <a:lstStyle/>
          <a:p>
            <a:pPr algn="l">
              <a:defRPr sz="165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normal 驗證 live artifacts；其餘 3 cases 使用 deterministic fixtures，確保 demo 可重現。</a:t>
            </a:r>
          </a:p>
        </p:txBody>
      </p:sp>
      <p:sp>
        <p:nvSpPr>
          <p:cNvPr id="25" name="source-Source: ">
            <a:extLst>
              <a:ext uri="{FF2B5EF4-FFF2-40B4-BE49-F238E27FC236}">
                <a16:creationId xmlns:a16="http://schemas.microsoft.com/office/drawing/2014/main" id="{5BCCC08D-9928-4C4B-A2CA-2B61B12B5A77}"/>
              </a:ext>
            </a:extLst>
          </p:cNvPr>
          <p:cNvSpPr>
            <a:spLocks noGrp="1"/>
          </p:cNvSpPr>
          <p:nvPr/>
        </p:nvSpPr>
        <p:spPr>
          <a:xfrm>
            <a:off x="533400" y="6334125"/>
            <a:ext cx="1028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9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 dirty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Source: </a:t>
            </a:r>
            <a:r>
              <a:rPr sz="900" b="0" dirty="0" err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eval_report.json</a:t>
            </a:r>
            <a:r>
              <a:rPr sz="900" b="0" dirty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 · tests/</a:t>
            </a:r>
          </a:p>
        </p:txBody>
      </p:sp>
    </p:spTree>
    <p:extLst>
      <p:ext uri="{BB962C8B-B14F-4D97-AF65-F5344CB8AC3E}">
        <p14:creationId xmlns:p14="http://schemas.microsoft.com/office/powerpoint/2010/main" val="21458114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eyebrow-7">
            <a:extLst>
              <a:ext uri="{FF2B5EF4-FFF2-40B4-BE49-F238E27FC236}">
                <a16:creationId xmlns:a16="http://schemas.microsoft.com/office/drawing/2014/main" id="{BA9A12CD-D9F3-4D5D-91EC-78A1A300B91F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3214" lnSpcReduction="10000"/>
          </a:bodyPr>
          <a:lstStyle/>
          <a:p>
            <a:pPr algn="l">
              <a:defRPr sz="1050" b="1">
                <a:solidFill>
                  <a:srgbClr val="005EA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005EA8"/>
                </a:solidFill>
                <a:latin typeface="Microsoft JhengHei"/>
                <a:ea typeface="Microsoft JhengHei"/>
                <a:cs typeface="Microsoft JhengHei"/>
              </a:rPr>
              <a:t>06 · LOOP + SAFETY</a:t>
            </a:r>
          </a:p>
        </p:txBody>
      </p:sp>
      <p:sp>
        <p:nvSpPr>
          <p:cNvPr id="2" name="title-7">
            <a:extLst>
              <a:ext uri="{FF2B5EF4-FFF2-40B4-BE49-F238E27FC236}">
                <a16:creationId xmlns:a16="http://schemas.microsoft.com/office/drawing/2014/main" id="{DDA86C2A-3993-4D9D-B01C-4FE0C655B0B9}"/>
              </a:ext>
            </a:extLst>
          </p:cNvPr>
          <p:cNvSpPr>
            <a:spLocks noGrp="1"/>
          </p:cNvSpPr>
          <p:nvPr/>
        </p:nvSpPr>
        <p:spPr>
          <a:xfrm>
            <a:off x="533400" y="685800"/>
            <a:ext cx="107632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36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第一次 live run，被自己的 evidence gate 擋下來</a:t>
            </a:r>
          </a:p>
        </p:txBody>
      </p:sp>
      <p:sp>
        <p:nvSpPr>
          <p:cNvPr id="3" name="page-7">
            <a:extLst>
              <a:ext uri="{FF2B5EF4-FFF2-40B4-BE49-F238E27FC236}">
                <a16:creationId xmlns:a16="http://schemas.microsoft.com/office/drawing/2014/main" id="{FF3E2992-6B1A-4075-8FB3-84F6A314C9F5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419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1667" lnSpcReduction="20000"/>
          </a:bodyPr>
          <a:lstStyle/>
          <a:p>
            <a:pPr algn="r">
              <a:defRPr sz="9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sp>
        <p:nvSpPr>
          <p:cNvPr id="4" name="safety-arrow-0">
            <a:extLst>
              <a:ext uri="{FF2B5EF4-FFF2-40B4-BE49-F238E27FC236}">
                <a16:creationId xmlns:a16="http://schemas.microsoft.com/office/drawing/2014/main" id="{59DD06AA-73BE-4648-A960-ED339F5FAE2A}"/>
              </a:ext>
            </a:extLst>
          </p:cNvPr>
          <p:cNvSpPr>
            <a:spLocks noGrp="1"/>
          </p:cNvSpPr>
          <p:nvPr/>
        </p:nvSpPr>
        <p:spPr>
          <a:xfrm>
            <a:off x="2781300" y="2952750"/>
            <a:ext cx="685800" cy="285750"/>
          </a:xfrm>
          <a:prstGeom prst="rightArrow">
            <a:avLst/>
          </a:prstGeom>
          <a:solidFill>
            <a:srgbClr val="C44536"/>
          </a:solidFill>
          <a:ln w="0">
            <a:solidFill>
              <a:srgbClr val="C4453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safety-arrow-1">
            <a:extLst>
              <a:ext uri="{FF2B5EF4-FFF2-40B4-BE49-F238E27FC236}">
                <a16:creationId xmlns:a16="http://schemas.microsoft.com/office/drawing/2014/main" id="{5DA9D021-EBA8-4ED5-9FEA-192683C9F87D}"/>
              </a:ext>
            </a:extLst>
          </p:cNvPr>
          <p:cNvSpPr>
            <a:spLocks noGrp="1"/>
          </p:cNvSpPr>
          <p:nvPr/>
        </p:nvSpPr>
        <p:spPr>
          <a:xfrm>
            <a:off x="5562600" y="2952750"/>
            <a:ext cx="685800" cy="285750"/>
          </a:xfrm>
          <a:prstGeom prst="rightArrow">
            <a:avLst/>
          </a:prstGeom>
          <a:solidFill>
            <a:srgbClr val="6DCBF4"/>
          </a:solidFill>
          <a:ln w="0">
            <a:solidFill>
              <a:srgbClr val="6DCBF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afety-arrow-2">
            <a:extLst>
              <a:ext uri="{FF2B5EF4-FFF2-40B4-BE49-F238E27FC236}">
                <a16:creationId xmlns:a16="http://schemas.microsoft.com/office/drawing/2014/main" id="{696CA7B2-29EE-45FE-80C8-F8416695D963}"/>
              </a:ext>
            </a:extLst>
          </p:cNvPr>
          <p:cNvSpPr>
            <a:spLocks noGrp="1"/>
          </p:cNvSpPr>
          <p:nvPr/>
        </p:nvSpPr>
        <p:spPr>
          <a:xfrm>
            <a:off x="8343900" y="2952750"/>
            <a:ext cx="685800" cy="285750"/>
          </a:xfrm>
          <a:prstGeom prst="rightArrow">
            <a:avLst/>
          </a:prstGeom>
          <a:solidFill>
            <a:srgbClr val="6DCBF4"/>
          </a:solidFill>
          <a:ln w="0">
            <a:solidFill>
              <a:srgbClr val="6DCBF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safety-step-0">
            <a:extLst>
              <a:ext uri="{FF2B5EF4-FFF2-40B4-BE49-F238E27FC236}">
                <a16:creationId xmlns:a16="http://schemas.microsoft.com/office/drawing/2014/main" id="{344616ED-7B7D-412D-9C70-13300BF56094}"/>
              </a:ext>
            </a:extLst>
          </p:cNvPr>
          <p:cNvSpPr>
            <a:spLocks noGrp="1"/>
          </p:cNvSpPr>
          <p:nvPr/>
        </p:nvSpPr>
        <p:spPr>
          <a:xfrm>
            <a:off x="609600" y="2133600"/>
            <a:ext cx="2247900" cy="2362200"/>
          </a:xfrm>
          <a:prstGeom prst="roundRect">
            <a:avLst>
              <a:gd name="adj" fmla="val 3390"/>
            </a:avLst>
          </a:prstGeom>
          <a:solidFill>
            <a:srgbClr val="FCEBE8"/>
          </a:solidFill>
          <a:ln w="19050">
            <a:solidFill>
              <a:srgbClr val="C4453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safety-index-0">
            <a:extLst>
              <a:ext uri="{FF2B5EF4-FFF2-40B4-BE49-F238E27FC236}">
                <a16:creationId xmlns:a16="http://schemas.microsoft.com/office/drawing/2014/main" id="{0D79F3B5-71F0-4A95-9D4F-69126966E20F}"/>
              </a:ext>
            </a:extLst>
          </p:cNvPr>
          <p:cNvSpPr>
            <a:spLocks noGrp="1"/>
          </p:cNvSpPr>
          <p:nvPr/>
        </p:nvSpPr>
        <p:spPr>
          <a:xfrm>
            <a:off x="781050" y="2305050"/>
            <a:ext cx="419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5556" lnSpcReduction="10000"/>
          </a:bodyPr>
          <a:lstStyle/>
          <a:p>
            <a:pPr algn="ctr">
              <a:defRPr sz="2250" b="1">
                <a:solidFill>
                  <a:srgbClr val="C445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C44536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9" name="safety-title-0">
            <a:extLst>
              <a:ext uri="{FF2B5EF4-FFF2-40B4-BE49-F238E27FC236}">
                <a16:creationId xmlns:a16="http://schemas.microsoft.com/office/drawing/2014/main" id="{BDD22FBF-ABD8-4F13-A0C9-51B1C4A2D4CC}"/>
              </a:ext>
            </a:extLst>
          </p:cNvPr>
          <p:cNvSpPr>
            <a:spLocks noGrp="1"/>
          </p:cNvSpPr>
          <p:nvPr/>
        </p:nvSpPr>
        <p:spPr>
          <a:xfrm>
            <a:off x="1276350" y="2362200"/>
            <a:ext cx="1390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924" lnSpcReduction="10000"/>
          </a:bodyPr>
          <a:lstStyle/>
          <a:p>
            <a:pPr algn="l">
              <a:defRPr sz="1650" b="1">
                <a:solidFill>
                  <a:srgbClr val="C445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C44536"/>
                </a:solidFill>
                <a:latin typeface="Microsoft JhengHei"/>
                <a:ea typeface="Microsoft JhengHei"/>
                <a:cs typeface="Microsoft JhengHei"/>
              </a:rPr>
              <a:t>錯誤 claim</a:t>
            </a:r>
          </a:p>
        </p:txBody>
      </p:sp>
      <p:sp>
        <p:nvSpPr>
          <p:cNvPr id="10" name="rule-82-302">
            <a:extLst>
              <a:ext uri="{FF2B5EF4-FFF2-40B4-BE49-F238E27FC236}">
                <a16:creationId xmlns:a16="http://schemas.microsoft.com/office/drawing/2014/main" id="{9430A654-581B-4FE9-8054-29CA11C96269}"/>
              </a:ext>
            </a:extLst>
          </p:cNvPr>
          <p:cNvSpPr>
            <a:spLocks noGrp="1"/>
          </p:cNvSpPr>
          <p:nvPr/>
        </p:nvSpPr>
        <p:spPr>
          <a:xfrm>
            <a:off x="781050" y="2876550"/>
            <a:ext cx="1885950" cy="19050"/>
          </a:xfrm>
          <a:prstGeom prst="rect">
            <a:avLst/>
          </a:prstGeom>
          <a:solidFill>
            <a:srgbClr val="C44536"/>
          </a:solidFill>
          <a:ln w="0">
            <a:solidFill>
              <a:srgbClr val="C4453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safety-body-0">
            <a:extLst>
              <a:ext uri="{FF2B5EF4-FFF2-40B4-BE49-F238E27FC236}">
                <a16:creationId xmlns:a16="http://schemas.microsoft.com/office/drawing/2014/main" id="{B9343BFD-4FBF-4C4F-A451-F2D0E1907B8D}"/>
              </a:ext>
            </a:extLst>
          </p:cNvPr>
          <p:cNvSpPr>
            <a:spLocks noGrp="1"/>
          </p:cNvSpPr>
          <p:nvPr/>
        </p:nvSpPr>
        <p:spPr>
          <a:xfrm>
            <a:off x="781050" y="3124200"/>
            <a:ext cx="1905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1650" b="1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650" b="1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diagnoses.</a:t>
            </a:r>
          </a:p>
          <a:p>
            <a:pPr algn="ctr">
              <a:defRPr sz="1650" b="1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650" b="1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tumor_stage</a:t>
            </a:r>
          </a:p>
        </p:txBody>
      </p:sp>
      <p:sp>
        <p:nvSpPr>
          <p:cNvPr id="12" name="safety-step-1">
            <a:extLst>
              <a:ext uri="{FF2B5EF4-FFF2-40B4-BE49-F238E27FC236}">
                <a16:creationId xmlns:a16="http://schemas.microsoft.com/office/drawing/2014/main" id="{BACA7D36-2FE7-476C-9BBD-3C436983869A}"/>
              </a:ext>
            </a:extLst>
          </p:cNvPr>
          <p:cNvSpPr>
            <a:spLocks noGrp="1"/>
          </p:cNvSpPr>
          <p:nvPr/>
        </p:nvSpPr>
        <p:spPr>
          <a:xfrm>
            <a:off x="3390900" y="2133600"/>
            <a:ext cx="2247900" cy="2362200"/>
          </a:xfrm>
          <a:prstGeom prst="roundRect">
            <a:avLst>
              <a:gd name="adj" fmla="val 3390"/>
            </a:avLst>
          </a:prstGeom>
          <a:solidFill>
            <a:srgbClr val="FFF4D9"/>
          </a:solidFill>
          <a:ln w="19050">
            <a:solidFill>
              <a:srgbClr val="D48A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safety-index-1">
            <a:extLst>
              <a:ext uri="{FF2B5EF4-FFF2-40B4-BE49-F238E27FC236}">
                <a16:creationId xmlns:a16="http://schemas.microsoft.com/office/drawing/2014/main" id="{1C521FA3-721F-4C63-814D-D1DD47A5352B}"/>
              </a:ext>
            </a:extLst>
          </p:cNvPr>
          <p:cNvSpPr>
            <a:spLocks noGrp="1"/>
          </p:cNvSpPr>
          <p:nvPr/>
        </p:nvSpPr>
        <p:spPr>
          <a:xfrm>
            <a:off x="3562350" y="2305050"/>
            <a:ext cx="419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5556" lnSpcReduction="10000"/>
          </a:bodyPr>
          <a:lstStyle/>
          <a:p>
            <a:pPr algn="ctr">
              <a:defRPr sz="2250" b="1">
                <a:solidFill>
                  <a:srgbClr val="D48A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D48A00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4" name="safety-title-1">
            <a:extLst>
              <a:ext uri="{FF2B5EF4-FFF2-40B4-BE49-F238E27FC236}">
                <a16:creationId xmlns:a16="http://schemas.microsoft.com/office/drawing/2014/main" id="{83CA8D7E-6A7B-4276-B617-2088E9A6D2E9}"/>
              </a:ext>
            </a:extLst>
          </p:cNvPr>
          <p:cNvSpPr>
            <a:spLocks noGrp="1"/>
          </p:cNvSpPr>
          <p:nvPr/>
        </p:nvSpPr>
        <p:spPr>
          <a:xfrm>
            <a:off x="4057650" y="2362200"/>
            <a:ext cx="1390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924" lnSpcReduction="10000"/>
          </a:bodyPr>
          <a:lstStyle/>
          <a:p>
            <a:pPr algn="l">
              <a:defRPr sz="1650" b="1">
                <a:solidFill>
                  <a:srgbClr val="D48A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D48A00"/>
                </a:solidFill>
                <a:latin typeface="Microsoft JhengHei"/>
                <a:ea typeface="Microsoft JhengHei"/>
                <a:cs typeface="Microsoft JhengHei"/>
              </a:rPr>
              <a:t>安全停止</a:t>
            </a:r>
          </a:p>
        </p:txBody>
      </p:sp>
      <p:sp>
        <p:nvSpPr>
          <p:cNvPr id="15" name="rule-374-302">
            <a:extLst>
              <a:ext uri="{FF2B5EF4-FFF2-40B4-BE49-F238E27FC236}">
                <a16:creationId xmlns:a16="http://schemas.microsoft.com/office/drawing/2014/main" id="{59B9EB2A-ED56-4DB9-9E39-D16124075595}"/>
              </a:ext>
            </a:extLst>
          </p:cNvPr>
          <p:cNvSpPr>
            <a:spLocks noGrp="1"/>
          </p:cNvSpPr>
          <p:nvPr/>
        </p:nvSpPr>
        <p:spPr>
          <a:xfrm>
            <a:off x="3562350" y="2876550"/>
            <a:ext cx="1885950" cy="19050"/>
          </a:xfrm>
          <a:prstGeom prst="rect">
            <a:avLst/>
          </a:prstGeom>
          <a:solidFill>
            <a:srgbClr val="D48A00"/>
          </a:solidFill>
          <a:ln w="0">
            <a:solidFill>
              <a:srgbClr val="D48A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safety-body-1">
            <a:extLst>
              <a:ext uri="{FF2B5EF4-FFF2-40B4-BE49-F238E27FC236}">
                <a16:creationId xmlns:a16="http://schemas.microsoft.com/office/drawing/2014/main" id="{363C6CAB-EFE9-42F3-AB5B-CD2EB76E5E67}"/>
              </a:ext>
            </a:extLst>
          </p:cNvPr>
          <p:cNvSpPr>
            <a:spLocks noGrp="1"/>
          </p:cNvSpPr>
          <p:nvPr/>
        </p:nvSpPr>
        <p:spPr>
          <a:xfrm>
            <a:off x="3562350" y="3124200"/>
            <a:ext cx="1905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1650" b="1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650" b="1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mapping 無欄位</a:t>
            </a:r>
          </a:p>
          <a:p>
            <a:pPr algn="ctr">
              <a:defRPr sz="1650" b="1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650" b="1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→ UNVERIFIED</a:t>
            </a:r>
          </a:p>
        </p:txBody>
      </p:sp>
      <p:sp>
        <p:nvSpPr>
          <p:cNvPr id="17" name="safety-step-2">
            <a:extLst>
              <a:ext uri="{FF2B5EF4-FFF2-40B4-BE49-F238E27FC236}">
                <a16:creationId xmlns:a16="http://schemas.microsoft.com/office/drawing/2014/main" id="{41D4765B-0158-48F3-9BA8-1926B5B8D8AA}"/>
              </a:ext>
            </a:extLst>
          </p:cNvPr>
          <p:cNvSpPr>
            <a:spLocks noGrp="1"/>
          </p:cNvSpPr>
          <p:nvPr/>
        </p:nvSpPr>
        <p:spPr>
          <a:xfrm>
            <a:off x="6172200" y="2133600"/>
            <a:ext cx="2247900" cy="2362200"/>
          </a:xfrm>
          <a:prstGeom prst="roundRect">
            <a:avLst>
              <a:gd name="adj" fmla="val 3390"/>
            </a:avLst>
          </a:prstGeom>
          <a:solidFill>
            <a:srgbClr val="EAF6FC"/>
          </a:solidFill>
          <a:ln w="19050">
            <a:solidFill>
              <a:srgbClr val="005EA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safety-index-2">
            <a:extLst>
              <a:ext uri="{FF2B5EF4-FFF2-40B4-BE49-F238E27FC236}">
                <a16:creationId xmlns:a16="http://schemas.microsoft.com/office/drawing/2014/main" id="{BF41E5FB-C83C-4EF4-8BC2-6796E610A9E4}"/>
              </a:ext>
            </a:extLst>
          </p:cNvPr>
          <p:cNvSpPr>
            <a:spLocks noGrp="1"/>
          </p:cNvSpPr>
          <p:nvPr/>
        </p:nvSpPr>
        <p:spPr>
          <a:xfrm>
            <a:off x="6343650" y="2305050"/>
            <a:ext cx="419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5556" lnSpcReduction="10000"/>
          </a:bodyPr>
          <a:lstStyle/>
          <a:p>
            <a:pPr algn="ctr">
              <a:defRPr sz="2250" b="1">
                <a:solidFill>
                  <a:srgbClr val="005EA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05EA8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9" name="safety-title-2">
            <a:extLst>
              <a:ext uri="{FF2B5EF4-FFF2-40B4-BE49-F238E27FC236}">
                <a16:creationId xmlns:a16="http://schemas.microsoft.com/office/drawing/2014/main" id="{1DD41558-A011-42CF-9BA8-404C28BED70A}"/>
              </a:ext>
            </a:extLst>
          </p:cNvPr>
          <p:cNvSpPr>
            <a:spLocks noGrp="1"/>
          </p:cNvSpPr>
          <p:nvPr/>
        </p:nvSpPr>
        <p:spPr>
          <a:xfrm>
            <a:off x="6838950" y="2362200"/>
            <a:ext cx="1390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0616" lnSpcReduction="10000"/>
          </a:bodyPr>
          <a:lstStyle/>
          <a:p>
            <a:pPr algn="l">
              <a:defRPr sz="1650" b="1">
                <a:solidFill>
                  <a:srgbClr val="005EA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05EA8"/>
                </a:solidFill>
                <a:latin typeface="Microsoft JhengHei"/>
                <a:ea typeface="Microsoft JhengHei"/>
                <a:cs typeface="Microsoft JhengHei"/>
              </a:rPr>
              <a:t>回查 dictionary</a:t>
            </a:r>
          </a:p>
        </p:txBody>
      </p:sp>
      <p:sp>
        <p:nvSpPr>
          <p:cNvPr id="20" name="rule-666-302">
            <a:extLst>
              <a:ext uri="{FF2B5EF4-FFF2-40B4-BE49-F238E27FC236}">
                <a16:creationId xmlns:a16="http://schemas.microsoft.com/office/drawing/2014/main" id="{C5E8E9D1-95C5-494A-8F5B-16B5A7DD6616}"/>
              </a:ext>
            </a:extLst>
          </p:cNvPr>
          <p:cNvSpPr>
            <a:spLocks noGrp="1"/>
          </p:cNvSpPr>
          <p:nvPr/>
        </p:nvSpPr>
        <p:spPr>
          <a:xfrm>
            <a:off x="6343650" y="2876550"/>
            <a:ext cx="1885950" cy="19050"/>
          </a:xfrm>
          <a:prstGeom prst="rect">
            <a:avLst/>
          </a:prstGeom>
          <a:solidFill>
            <a:srgbClr val="005EA8"/>
          </a:solidFill>
          <a:ln w="0">
            <a:solidFill>
              <a:srgbClr val="005EA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safety-body-2">
            <a:extLst>
              <a:ext uri="{FF2B5EF4-FFF2-40B4-BE49-F238E27FC236}">
                <a16:creationId xmlns:a16="http://schemas.microsoft.com/office/drawing/2014/main" id="{7BA74114-28FC-4688-9506-D973F34CDFAD}"/>
              </a:ext>
            </a:extLst>
          </p:cNvPr>
          <p:cNvSpPr>
            <a:spLocks noGrp="1"/>
          </p:cNvSpPr>
          <p:nvPr/>
        </p:nvSpPr>
        <p:spPr>
          <a:xfrm>
            <a:off x="6343650" y="3124200"/>
            <a:ext cx="1905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3402"/>
          </a:bodyPr>
          <a:lstStyle/>
          <a:p>
            <a:pPr algn="ctr">
              <a:defRPr sz="1650" b="1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650" b="1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找到 exact path</a:t>
            </a:r>
          </a:p>
          <a:p>
            <a:pPr algn="ctr">
              <a:defRPr sz="1650" b="1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650" b="1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ajcc_pathologic_</a:t>
            </a:r>
          </a:p>
          <a:p>
            <a:pPr algn="ctr">
              <a:defRPr sz="1650" b="1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650" b="1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stage</a:t>
            </a:r>
          </a:p>
        </p:txBody>
      </p:sp>
      <p:sp>
        <p:nvSpPr>
          <p:cNvPr id="22" name="safety-step-3">
            <a:extLst>
              <a:ext uri="{FF2B5EF4-FFF2-40B4-BE49-F238E27FC236}">
                <a16:creationId xmlns:a16="http://schemas.microsoft.com/office/drawing/2014/main" id="{E786A731-159E-44F1-8A49-4AC9CE5C09A1}"/>
              </a:ext>
            </a:extLst>
          </p:cNvPr>
          <p:cNvSpPr>
            <a:spLocks noGrp="1"/>
          </p:cNvSpPr>
          <p:nvPr/>
        </p:nvSpPr>
        <p:spPr>
          <a:xfrm>
            <a:off x="8953500" y="2133600"/>
            <a:ext cx="2247900" cy="2362200"/>
          </a:xfrm>
          <a:prstGeom prst="roundRect">
            <a:avLst>
              <a:gd name="adj" fmla="val 3390"/>
            </a:avLst>
          </a:prstGeom>
          <a:solidFill>
            <a:srgbClr val="E4F5EF"/>
          </a:solidFill>
          <a:ln w="19050">
            <a:solidFill>
              <a:srgbClr val="168A6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safety-index-3">
            <a:extLst>
              <a:ext uri="{FF2B5EF4-FFF2-40B4-BE49-F238E27FC236}">
                <a16:creationId xmlns:a16="http://schemas.microsoft.com/office/drawing/2014/main" id="{6840F864-338C-4EB8-B3B4-809A6828BE5E}"/>
              </a:ext>
            </a:extLst>
          </p:cNvPr>
          <p:cNvSpPr>
            <a:spLocks noGrp="1"/>
          </p:cNvSpPr>
          <p:nvPr/>
        </p:nvSpPr>
        <p:spPr>
          <a:xfrm>
            <a:off x="9124950" y="2305050"/>
            <a:ext cx="419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5556" lnSpcReduction="10000"/>
          </a:bodyPr>
          <a:lstStyle/>
          <a:p>
            <a:pPr algn="ctr">
              <a:defRPr sz="2250" b="1">
                <a:solidFill>
                  <a:srgbClr val="168A6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8A64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24" name="safety-title-3">
            <a:extLst>
              <a:ext uri="{FF2B5EF4-FFF2-40B4-BE49-F238E27FC236}">
                <a16:creationId xmlns:a16="http://schemas.microsoft.com/office/drawing/2014/main" id="{47D5B664-9EB5-4EDC-91BD-BE9E1538356B}"/>
              </a:ext>
            </a:extLst>
          </p:cNvPr>
          <p:cNvSpPr>
            <a:spLocks noGrp="1"/>
          </p:cNvSpPr>
          <p:nvPr/>
        </p:nvSpPr>
        <p:spPr>
          <a:xfrm>
            <a:off x="9620250" y="2362200"/>
            <a:ext cx="1390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924" lnSpcReduction="10000"/>
          </a:bodyPr>
          <a:lstStyle/>
          <a:p>
            <a:pPr algn="l">
              <a:defRPr sz="1650" b="1">
                <a:solidFill>
                  <a:srgbClr val="168A6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68A64"/>
                </a:solidFill>
                <a:latin typeface="Microsoft JhengHei"/>
                <a:ea typeface="Microsoft JhengHei"/>
                <a:cs typeface="Microsoft JhengHei"/>
              </a:rPr>
              <a:t>完整 rerun</a:t>
            </a:r>
          </a:p>
        </p:txBody>
      </p:sp>
      <p:sp>
        <p:nvSpPr>
          <p:cNvPr id="25" name="rule-958-302">
            <a:extLst>
              <a:ext uri="{FF2B5EF4-FFF2-40B4-BE49-F238E27FC236}">
                <a16:creationId xmlns:a16="http://schemas.microsoft.com/office/drawing/2014/main" id="{80B898A2-E799-43BE-A228-8749254C752F}"/>
              </a:ext>
            </a:extLst>
          </p:cNvPr>
          <p:cNvSpPr>
            <a:spLocks noGrp="1"/>
          </p:cNvSpPr>
          <p:nvPr/>
        </p:nvSpPr>
        <p:spPr>
          <a:xfrm>
            <a:off x="9124950" y="2876550"/>
            <a:ext cx="1885950" cy="19050"/>
          </a:xfrm>
          <a:prstGeom prst="rect">
            <a:avLst/>
          </a:prstGeom>
          <a:solidFill>
            <a:srgbClr val="168A64"/>
          </a:solidFill>
          <a:ln w="0">
            <a:solidFill>
              <a:srgbClr val="168A6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safety-body-3">
            <a:extLst>
              <a:ext uri="{FF2B5EF4-FFF2-40B4-BE49-F238E27FC236}">
                <a16:creationId xmlns:a16="http://schemas.microsoft.com/office/drawing/2014/main" id="{31450FC7-7791-4513-A363-06BAE574185A}"/>
              </a:ext>
            </a:extLst>
          </p:cNvPr>
          <p:cNvSpPr>
            <a:spLocks noGrp="1"/>
          </p:cNvSpPr>
          <p:nvPr/>
        </p:nvSpPr>
        <p:spPr>
          <a:xfrm>
            <a:off x="9124950" y="3124200"/>
            <a:ext cx="1905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1650" b="1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650" b="1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兩個 cohort</a:t>
            </a:r>
          </a:p>
          <a:p>
            <a:pPr algn="ctr">
              <a:defRPr sz="1650" b="1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650" b="1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→ FIT</a:t>
            </a:r>
          </a:p>
        </p:txBody>
      </p:sp>
      <p:sp>
        <p:nvSpPr>
          <p:cNvPr id="27" name="safety-takeaway">
            <a:extLst>
              <a:ext uri="{FF2B5EF4-FFF2-40B4-BE49-F238E27FC236}">
                <a16:creationId xmlns:a16="http://schemas.microsoft.com/office/drawing/2014/main" id="{F0575850-4148-4885-A2C8-2BE26E6A959E}"/>
              </a:ext>
            </a:extLst>
          </p:cNvPr>
          <p:cNvSpPr>
            <a:spLocks noGrp="1"/>
          </p:cNvSpPr>
          <p:nvPr/>
        </p:nvSpPr>
        <p:spPr>
          <a:xfrm>
            <a:off x="1028700" y="5048250"/>
            <a:ext cx="10096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275" lnSpcReduction="20000"/>
          </a:bodyPr>
          <a:lstStyle/>
          <a:p>
            <a:pPr algn="ctr">
              <a:defRPr sz="2250" b="1">
                <a:solidFill>
                  <a:srgbClr val="005EA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05EA8"/>
                </a:solidFill>
                <a:latin typeface="Microsoft JhengHei"/>
                <a:ea typeface="Microsoft JhengHei"/>
                <a:cs typeface="Microsoft JhengHei"/>
              </a:rPr>
              <a:t>沒有 dictionary path，就沒有 fit 結論。修正必須留下 decision log，再從頭跑完整 workflow。</a:t>
            </a:r>
          </a:p>
        </p:txBody>
      </p:sp>
      <p:sp>
        <p:nvSpPr>
          <p:cNvPr id="28" name="source-Source: ">
            <a:extLst>
              <a:ext uri="{FF2B5EF4-FFF2-40B4-BE49-F238E27FC236}">
                <a16:creationId xmlns:a16="http://schemas.microsoft.com/office/drawing/2014/main" id="{0EE9CE88-A1A4-46C4-92EC-22AFBDCC04A9}"/>
              </a:ext>
            </a:extLst>
          </p:cNvPr>
          <p:cNvSpPr>
            <a:spLocks noGrp="1"/>
          </p:cNvSpPr>
          <p:nvPr/>
        </p:nvSpPr>
        <p:spPr>
          <a:xfrm>
            <a:off x="533400" y="6334125"/>
            <a:ext cx="1028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9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Source: docs/decision_log.md · outputs/latest/data_dictionary.md</a:t>
            </a:r>
          </a:p>
        </p:txBody>
      </p:sp>
    </p:spTree>
    <p:extLst>
      <p:ext uri="{BB962C8B-B14F-4D97-AF65-F5344CB8AC3E}">
        <p14:creationId xmlns:p14="http://schemas.microsoft.com/office/powerpoint/2010/main" val="5698634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92F586-FA40-EFC7-C6F8-19713F00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eyebrow-7">
            <a:extLst>
              <a:ext uri="{FF2B5EF4-FFF2-40B4-BE49-F238E27FC236}">
                <a16:creationId xmlns:a16="http://schemas.microsoft.com/office/drawing/2014/main" id="{9E6FEEF2-FD89-A568-B465-7EAD7559C391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3214" lnSpcReduction="10000"/>
          </a:bodyPr>
          <a:lstStyle/>
          <a:p>
            <a:pPr algn="l">
              <a:defRPr sz="1050" b="1">
                <a:solidFill>
                  <a:srgbClr val="005EA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 dirty="0">
                <a:solidFill>
                  <a:srgbClr val="005EA8"/>
                </a:solidFill>
                <a:latin typeface="Microsoft JhengHei"/>
                <a:ea typeface="Microsoft JhengHei"/>
                <a:cs typeface="Microsoft JhengHei"/>
              </a:rPr>
              <a:t>0</a:t>
            </a:r>
            <a:r>
              <a:rPr lang="en-US" altLang="zh-TW" sz="1050" b="1" dirty="0">
                <a:solidFill>
                  <a:srgbClr val="005EA8"/>
                </a:solidFill>
                <a:latin typeface="Microsoft JhengHei"/>
                <a:ea typeface="Microsoft JhengHei"/>
                <a:cs typeface="Microsoft JhengHei"/>
              </a:rPr>
              <a:t>7</a:t>
            </a:r>
            <a:r>
              <a:rPr sz="1050" b="1" dirty="0">
                <a:solidFill>
                  <a:srgbClr val="005EA8"/>
                </a:solidFill>
                <a:latin typeface="Microsoft JhengHei"/>
                <a:ea typeface="Microsoft JhengHei"/>
                <a:cs typeface="Microsoft JhengHei"/>
              </a:rPr>
              <a:t>· </a:t>
            </a:r>
            <a:r>
              <a:rPr lang="en-US" altLang="zh-TW" sz="1050" b="1" dirty="0" err="1">
                <a:solidFill>
                  <a:srgbClr val="005EA8"/>
                </a:solidFill>
                <a:latin typeface="Microsoft JhengHei"/>
                <a:ea typeface="Microsoft JhengHei"/>
                <a:cs typeface="Microsoft JhengHei"/>
              </a:rPr>
              <a:t>Rescratch</a:t>
            </a:r>
            <a:r>
              <a:rPr lang="en-US" altLang="zh-TW" sz="1050" b="1" dirty="0">
                <a:solidFill>
                  <a:srgbClr val="005EA8"/>
                </a:solidFill>
                <a:latin typeface="Microsoft JhengHei"/>
                <a:ea typeface="Microsoft JhengHei"/>
                <a:cs typeface="Microsoft JhengHei"/>
              </a:rPr>
              <a:t> testify</a:t>
            </a:r>
            <a:endParaRPr sz="1050" b="1" dirty="0">
              <a:solidFill>
                <a:srgbClr val="005EA8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2" name="title-7">
            <a:extLst>
              <a:ext uri="{FF2B5EF4-FFF2-40B4-BE49-F238E27FC236}">
                <a16:creationId xmlns:a16="http://schemas.microsoft.com/office/drawing/2014/main" id="{12D3F149-5BC7-550E-D8AD-B1E2BFA43D9C}"/>
              </a:ext>
            </a:extLst>
          </p:cNvPr>
          <p:cNvSpPr>
            <a:spLocks noGrp="1"/>
          </p:cNvSpPr>
          <p:nvPr/>
        </p:nvSpPr>
        <p:spPr>
          <a:xfrm>
            <a:off x="533400" y="685800"/>
            <a:ext cx="107632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36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en-US" sz="3600" b="1" dirty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把</a:t>
            </a:r>
            <a:r>
              <a:rPr lang="en-US" altLang="zh-TW" sz="3600" b="1" dirty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markdown</a:t>
            </a:r>
            <a:r>
              <a:rPr lang="zh-TW" altLang="en-US" sz="3600" b="1" dirty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更換到另一台電腦驗證</a:t>
            </a:r>
            <a:endParaRPr sz="3600" b="1" dirty="0">
              <a:solidFill>
                <a:srgbClr val="111827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3" name="page-7">
            <a:extLst>
              <a:ext uri="{FF2B5EF4-FFF2-40B4-BE49-F238E27FC236}">
                <a16:creationId xmlns:a16="http://schemas.microsoft.com/office/drawing/2014/main" id="{F8CB0F6A-1E3C-BD39-42D9-76A5D2D0B61C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419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1667" lnSpcReduction="20000"/>
          </a:bodyPr>
          <a:lstStyle/>
          <a:p>
            <a:pPr algn="r">
              <a:defRPr sz="9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 dirty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0</a:t>
            </a:r>
            <a:r>
              <a:rPr lang="en-US" altLang="zh-TW" sz="975" b="0" dirty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8</a:t>
            </a:r>
            <a:endParaRPr sz="975" b="0" dirty="0">
              <a:solidFill>
                <a:srgbClr val="5B6472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pic>
        <p:nvPicPr>
          <p:cNvPr id="31" name="圖片 30">
            <a:extLst>
              <a:ext uri="{FF2B5EF4-FFF2-40B4-BE49-F238E27FC236}">
                <a16:creationId xmlns:a16="http://schemas.microsoft.com/office/drawing/2014/main" id="{6FF4719D-1440-2A11-EA77-76A58D9072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4314" y="1315813"/>
            <a:ext cx="6721422" cy="5425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0821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close-accent">
            <a:extLst>
              <a:ext uri="{FF2B5EF4-FFF2-40B4-BE49-F238E27FC236}">
                <a16:creationId xmlns:a16="http://schemas.microsoft.com/office/drawing/2014/main" id="{9BB305FC-33FE-45B0-97E4-FF087CD1A6F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005EA8"/>
          </a:solidFill>
          <a:ln w="0">
            <a:solidFill>
              <a:srgbClr val="005EA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close-eyebrow">
            <a:extLst>
              <a:ext uri="{FF2B5EF4-FFF2-40B4-BE49-F238E27FC236}">
                <a16:creationId xmlns:a16="http://schemas.microsoft.com/office/drawing/2014/main" id="{5DA8F7FD-3750-4436-BCB6-89E10B5B83EC}"/>
              </a:ext>
            </a:extLst>
          </p:cNvPr>
          <p:cNvSpPr>
            <a:spLocks noGrp="1"/>
          </p:cNvSpPr>
          <p:nvPr/>
        </p:nvSpPr>
        <p:spPr>
          <a:xfrm>
            <a:off x="609600" y="533400"/>
            <a:ext cx="590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8611" lnSpcReduction="10000"/>
          </a:bodyPr>
          <a:lstStyle/>
          <a:p>
            <a:pPr algn="l">
              <a:defRPr sz="1125" b="1">
                <a:solidFill>
                  <a:srgbClr val="005EA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005EA8"/>
                </a:solidFill>
                <a:latin typeface="Microsoft JhengHei"/>
                <a:ea typeface="Microsoft JhengHei"/>
                <a:cs typeface="Microsoft JhengHei"/>
              </a:rPr>
              <a:t>HONEST DEMO · FINAL BOUNDARY</a:t>
            </a:r>
          </a:p>
        </p:txBody>
      </p:sp>
      <p:sp>
        <p:nvSpPr>
          <p:cNvPr id="3" name="close-title">
            <a:extLst>
              <a:ext uri="{FF2B5EF4-FFF2-40B4-BE49-F238E27FC236}">
                <a16:creationId xmlns:a16="http://schemas.microsoft.com/office/drawing/2014/main" id="{14806668-886D-4855-ACC7-637872C46EA1}"/>
              </a:ext>
            </a:extLst>
          </p:cNvPr>
          <p:cNvSpPr>
            <a:spLocks noGrp="1"/>
          </p:cNvSpPr>
          <p:nvPr/>
        </p:nvSpPr>
        <p:spPr>
          <a:xfrm>
            <a:off x="609600" y="1200150"/>
            <a:ext cx="6572250" cy="1638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7924"/>
          </a:bodyPr>
          <a:lstStyle/>
          <a:p>
            <a:pPr algn="l">
              <a:defRPr sz="45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5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Demo-ready.</a:t>
            </a:r>
          </a:p>
          <a:p>
            <a:pPr algn="l">
              <a:defRPr sz="45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5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Research-not-approved</a:t>
            </a:r>
          </a:p>
        </p:txBody>
      </p:sp>
      <p:sp>
        <p:nvSpPr>
          <p:cNvPr id="4" name="close-summary-1">
            <a:extLst>
              <a:ext uri="{FF2B5EF4-FFF2-40B4-BE49-F238E27FC236}">
                <a16:creationId xmlns:a16="http://schemas.microsoft.com/office/drawing/2014/main" id="{F48584C8-4047-4A19-B16C-A29B01A7586A}"/>
              </a:ext>
            </a:extLst>
          </p:cNvPr>
          <p:cNvSpPr>
            <a:spLocks noGrp="1"/>
          </p:cNvSpPr>
          <p:nvPr/>
        </p:nvSpPr>
        <p:spPr>
          <a:xfrm>
            <a:off x="647700" y="3200400"/>
            <a:ext cx="5905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250" b="1">
                <a:solidFill>
                  <a:srgbClr val="005EA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05EA8"/>
                </a:solidFill>
                <a:latin typeface="Microsoft JhengHei"/>
                <a:ea typeface="Microsoft JhengHei"/>
                <a:cs typeface="Microsoft JhengHei"/>
              </a:rPr>
              <a:t>我們證明的是「資料可被檢查」，</a:t>
            </a:r>
          </a:p>
        </p:txBody>
      </p:sp>
      <p:sp>
        <p:nvSpPr>
          <p:cNvPr id="5" name="close-summary-2">
            <a:extLst>
              <a:ext uri="{FF2B5EF4-FFF2-40B4-BE49-F238E27FC236}">
                <a16:creationId xmlns:a16="http://schemas.microsoft.com/office/drawing/2014/main" id="{A7A7B4EB-5F23-409F-999D-B30F28C6B93F}"/>
              </a:ext>
            </a:extLst>
          </p:cNvPr>
          <p:cNvSpPr>
            <a:spLocks noGrp="1"/>
          </p:cNvSpPr>
          <p:nvPr/>
        </p:nvSpPr>
        <p:spPr>
          <a:xfrm>
            <a:off x="647700" y="3714750"/>
            <a:ext cx="5905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250" b="1">
                <a:solidFill>
                  <a:srgbClr val="005EA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05EA8"/>
                </a:solidFill>
                <a:latin typeface="Microsoft JhengHei"/>
                <a:ea typeface="Microsoft JhengHei"/>
                <a:cs typeface="Microsoft JhengHei"/>
              </a:rPr>
              <a:t>不是「存活差異已被證明」。</a:t>
            </a:r>
          </a:p>
        </p:txBody>
      </p:sp>
      <p:sp>
        <p:nvSpPr>
          <p:cNvPr id="6" name="close-gates">
            <a:extLst>
              <a:ext uri="{FF2B5EF4-FFF2-40B4-BE49-F238E27FC236}">
                <a16:creationId xmlns:a16="http://schemas.microsoft.com/office/drawing/2014/main" id="{8C4ED620-4646-4677-A632-2B38A25BC1D4}"/>
              </a:ext>
            </a:extLst>
          </p:cNvPr>
          <p:cNvSpPr>
            <a:spLocks noGrp="1"/>
          </p:cNvSpPr>
          <p:nvPr/>
        </p:nvSpPr>
        <p:spPr>
          <a:xfrm>
            <a:off x="7524750" y="781050"/>
            <a:ext cx="4095750" cy="4572000"/>
          </a:xfrm>
          <a:prstGeom prst="roundRect">
            <a:avLst>
              <a:gd name="adj" fmla="val 1860"/>
            </a:avLst>
          </a:prstGeom>
          <a:solidFill>
            <a:srgbClr val="EAF6FC"/>
          </a:solidFill>
          <a:ln w="19050">
            <a:solidFill>
              <a:srgbClr val="6DCBF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close-gate-title">
            <a:extLst>
              <a:ext uri="{FF2B5EF4-FFF2-40B4-BE49-F238E27FC236}">
                <a16:creationId xmlns:a16="http://schemas.microsoft.com/office/drawing/2014/main" id="{5B6477FD-E8CA-49AA-B598-0DBAD04FB7E3}"/>
              </a:ext>
            </a:extLst>
          </p:cNvPr>
          <p:cNvSpPr>
            <a:spLocks noGrp="1"/>
          </p:cNvSpPr>
          <p:nvPr/>
        </p:nvSpPr>
        <p:spPr>
          <a:xfrm>
            <a:off x="7867650" y="1200150"/>
            <a:ext cx="3429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1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正式研究前的 3 個人工關卡</a:t>
            </a:r>
          </a:p>
        </p:txBody>
      </p:sp>
      <p:sp>
        <p:nvSpPr>
          <p:cNvPr id="8" name="gate-no-0">
            <a:extLst>
              <a:ext uri="{FF2B5EF4-FFF2-40B4-BE49-F238E27FC236}">
                <a16:creationId xmlns:a16="http://schemas.microsoft.com/office/drawing/2014/main" id="{F0E6E4C1-ED36-4FD4-8999-7F782B846812}"/>
              </a:ext>
            </a:extLst>
          </p:cNvPr>
          <p:cNvSpPr>
            <a:spLocks noGrp="1"/>
          </p:cNvSpPr>
          <p:nvPr/>
        </p:nvSpPr>
        <p:spPr>
          <a:xfrm>
            <a:off x="7867650" y="2000250"/>
            <a:ext cx="533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650" b="1">
                <a:solidFill>
                  <a:srgbClr val="005EA8"/>
                </a:solidFill>
                <a:latin typeface="Consolas"/>
                <a:ea typeface="Consolas"/>
                <a:cs typeface="Consolas"/>
              </a:defRPr>
            </a:pPr>
            <a:r>
              <a:rPr sz="1650" b="1">
                <a:solidFill>
                  <a:srgbClr val="005EA8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9" name="gate-name-0">
            <a:extLst>
              <a:ext uri="{FF2B5EF4-FFF2-40B4-BE49-F238E27FC236}">
                <a16:creationId xmlns:a16="http://schemas.microsoft.com/office/drawing/2014/main" id="{DE12A793-E5C6-4F3E-B0B7-5A11AE1335D9}"/>
              </a:ext>
            </a:extLst>
          </p:cNvPr>
          <p:cNvSpPr>
            <a:spLocks noGrp="1"/>
          </p:cNvSpPr>
          <p:nvPr/>
        </p:nvSpPr>
        <p:spPr>
          <a:xfrm>
            <a:off x="8515350" y="2000250"/>
            <a:ext cx="2667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6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領域 reviewer</a:t>
            </a:r>
          </a:p>
        </p:txBody>
      </p:sp>
      <p:sp>
        <p:nvSpPr>
          <p:cNvPr id="10" name="gate-desc-0">
            <a:extLst>
              <a:ext uri="{FF2B5EF4-FFF2-40B4-BE49-F238E27FC236}">
                <a16:creationId xmlns:a16="http://schemas.microsoft.com/office/drawing/2014/main" id="{95FA98BE-F4DE-47D4-A8BD-1E87AD2041CD}"/>
              </a:ext>
            </a:extLst>
          </p:cNvPr>
          <p:cNvSpPr>
            <a:spLocks noGrp="1"/>
          </p:cNvSpPr>
          <p:nvPr/>
        </p:nvSpPr>
        <p:spPr>
          <a:xfrm>
            <a:off x="8515350" y="2381250"/>
            <a:ext cx="2952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65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確認 stage / endpoint 語意</a:t>
            </a:r>
          </a:p>
        </p:txBody>
      </p:sp>
      <p:sp>
        <p:nvSpPr>
          <p:cNvPr id="11" name="rule-826-308">
            <a:extLst>
              <a:ext uri="{FF2B5EF4-FFF2-40B4-BE49-F238E27FC236}">
                <a16:creationId xmlns:a16="http://schemas.microsoft.com/office/drawing/2014/main" id="{47B52586-6718-443C-8551-AFB477821841}"/>
              </a:ext>
            </a:extLst>
          </p:cNvPr>
          <p:cNvSpPr>
            <a:spLocks noGrp="1"/>
          </p:cNvSpPr>
          <p:nvPr/>
        </p:nvSpPr>
        <p:spPr>
          <a:xfrm>
            <a:off x="7867650" y="2933700"/>
            <a:ext cx="3333750" cy="9525"/>
          </a:xfrm>
          <a:prstGeom prst="rect">
            <a:avLst/>
          </a:prstGeom>
          <a:solidFill>
            <a:srgbClr val="B8C0CA"/>
          </a:solidFill>
          <a:ln w="0">
            <a:solidFill>
              <a:srgbClr val="B8C0C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gate-no-1">
            <a:extLst>
              <a:ext uri="{FF2B5EF4-FFF2-40B4-BE49-F238E27FC236}">
                <a16:creationId xmlns:a16="http://schemas.microsoft.com/office/drawing/2014/main" id="{04C361BB-083B-4995-8FD0-D8EE6DE827C8}"/>
              </a:ext>
            </a:extLst>
          </p:cNvPr>
          <p:cNvSpPr>
            <a:spLocks noGrp="1"/>
          </p:cNvSpPr>
          <p:nvPr/>
        </p:nvSpPr>
        <p:spPr>
          <a:xfrm>
            <a:off x="7867650" y="3105150"/>
            <a:ext cx="533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650" b="1">
                <a:solidFill>
                  <a:srgbClr val="005EA8"/>
                </a:solidFill>
                <a:latin typeface="Consolas"/>
                <a:ea typeface="Consolas"/>
                <a:cs typeface="Consolas"/>
              </a:defRPr>
            </a:pPr>
            <a:r>
              <a:rPr sz="1650" b="1">
                <a:solidFill>
                  <a:srgbClr val="005EA8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3" name="gate-name-1">
            <a:extLst>
              <a:ext uri="{FF2B5EF4-FFF2-40B4-BE49-F238E27FC236}">
                <a16:creationId xmlns:a16="http://schemas.microsoft.com/office/drawing/2014/main" id="{CE97204C-061A-4463-9579-AB0106CFAA6D}"/>
              </a:ext>
            </a:extLst>
          </p:cNvPr>
          <p:cNvSpPr>
            <a:spLocks noGrp="1"/>
          </p:cNvSpPr>
          <p:nvPr/>
        </p:nvSpPr>
        <p:spPr>
          <a:xfrm>
            <a:off x="8515350" y="3105150"/>
            <a:ext cx="2667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6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資料治理 reviewer</a:t>
            </a:r>
          </a:p>
        </p:txBody>
      </p:sp>
      <p:sp>
        <p:nvSpPr>
          <p:cNvPr id="14" name="gate-desc-1">
            <a:extLst>
              <a:ext uri="{FF2B5EF4-FFF2-40B4-BE49-F238E27FC236}">
                <a16:creationId xmlns:a16="http://schemas.microsoft.com/office/drawing/2014/main" id="{4FE5B7E3-1B12-4F23-89C5-EFD04BDFA6CC}"/>
              </a:ext>
            </a:extLst>
          </p:cNvPr>
          <p:cNvSpPr>
            <a:spLocks noGrp="1"/>
          </p:cNvSpPr>
          <p:nvPr/>
        </p:nvSpPr>
        <p:spPr>
          <a:xfrm>
            <a:off x="8515350" y="3486150"/>
            <a:ext cx="2952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65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確認 access 與資料使用</a:t>
            </a:r>
          </a:p>
        </p:txBody>
      </p:sp>
      <p:sp>
        <p:nvSpPr>
          <p:cNvPr id="15" name="rule-826-424">
            <a:extLst>
              <a:ext uri="{FF2B5EF4-FFF2-40B4-BE49-F238E27FC236}">
                <a16:creationId xmlns:a16="http://schemas.microsoft.com/office/drawing/2014/main" id="{EA775DD8-535C-45B4-A859-8672CD536C4D}"/>
              </a:ext>
            </a:extLst>
          </p:cNvPr>
          <p:cNvSpPr>
            <a:spLocks noGrp="1"/>
          </p:cNvSpPr>
          <p:nvPr/>
        </p:nvSpPr>
        <p:spPr>
          <a:xfrm>
            <a:off x="7867650" y="4038600"/>
            <a:ext cx="3333750" cy="9525"/>
          </a:xfrm>
          <a:prstGeom prst="rect">
            <a:avLst/>
          </a:prstGeom>
          <a:solidFill>
            <a:srgbClr val="B8C0CA"/>
          </a:solidFill>
          <a:ln w="0">
            <a:solidFill>
              <a:srgbClr val="B8C0C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gate-no-2">
            <a:extLst>
              <a:ext uri="{FF2B5EF4-FFF2-40B4-BE49-F238E27FC236}">
                <a16:creationId xmlns:a16="http://schemas.microsoft.com/office/drawing/2014/main" id="{823BCAFC-127E-49D4-9FD0-083C3D45632E}"/>
              </a:ext>
            </a:extLst>
          </p:cNvPr>
          <p:cNvSpPr>
            <a:spLocks noGrp="1"/>
          </p:cNvSpPr>
          <p:nvPr/>
        </p:nvSpPr>
        <p:spPr>
          <a:xfrm>
            <a:off x="7867650" y="4210050"/>
            <a:ext cx="533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650" b="1">
                <a:solidFill>
                  <a:srgbClr val="005EA8"/>
                </a:solidFill>
                <a:latin typeface="Consolas"/>
                <a:ea typeface="Consolas"/>
                <a:cs typeface="Consolas"/>
              </a:defRPr>
            </a:pPr>
            <a:r>
              <a:rPr sz="1650" b="1">
                <a:solidFill>
                  <a:srgbClr val="005EA8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7" name="gate-name-2">
            <a:extLst>
              <a:ext uri="{FF2B5EF4-FFF2-40B4-BE49-F238E27FC236}">
                <a16:creationId xmlns:a16="http://schemas.microsoft.com/office/drawing/2014/main" id="{4DEF7361-E193-44A7-9909-38EAD462DBA3}"/>
              </a:ext>
            </a:extLst>
          </p:cNvPr>
          <p:cNvSpPr>
            <a:spLocks noGrp="1"/>
          </p:cNvSpPr>
          <p:nvPr/>
        </p:nvSpPr>
        <p:spPr>
          <a:xfrm>
            <a:off x="8515350" y="4210050"/>
            <a:ext cx="2667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6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統計 / cohort reviewer</a:t>
            </a:r>
          </a:p>
        </p:txBody>
      </p:sp>
      <p:sp>
        <p:nvSpPr>
          <p:cNvPr id="18" name="gate-desc-2">
            <a:extLst>
              <a:ext uri="{FF2B5EF4-FFF2-40B4-BE49-F238E27FC236}">
                <a16:creationId xmlns:a16="http://schemas.microsoft.com/office/drawing/2014/main" id="{84864BEF-9CC4-4C42-A339-3501E885A995}"/>
              </a:ext>
            </a:extLst>
          </p:cNvPr>
          <p:cNvSpPr>
            <a:spLocks noGrp="1"/>
          </p:cNvSpPr>
          <p:nvPr/>
        </p:nvSpPr>
        <p:spPr>
          <a:xfrm>
            <a:off x="8515350" y="4591050"/>
            <a:ext cx="2952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6493"/>
          </a:bodyPr>
          <a:lstStyle/>
          <a:p>
            <a:pPr algn="l">
              <a:defRPr sz="165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確認 censoring 與 missingness</a:t>
            </a:r>
          </a:p>
        </p:txBody>
      </p:sp>
      <p:sp>
        <p:nvSpPr>
          <p:cNvPr id="19" name="close-link-label">
            <a:extLst>
              <a:ext uri="{FF2B5EF4-FFF2-40B4-BE49-F238E27FC236}">
                <a16:creationId xmlns:a16="http://schemas.microsoft.com/office/drawing/2014/main" id="{9348880A-9457-43E5-8CD3-27F521DDC34D}"/>
              </a:ext>
            </a:extLst>
          </p:cNvPr>
          <p:cNvSpPr>
            <a:spLocks noGrp="1"/>
          </p:cNvSpPr>
          <p:nvPr/>
        </p:nvSpPr>
        <p:spPr>
          <a:xfrm>
            <a:off x="647700" y="5029200"/>
            <a:ext cx="95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917" lnSpcReduction="10000"/>
          </a:bodyPr>
          <a:lstStyle/>
          <a:p>
            <a:pPr algn="l">
              <a:defRPr sz="12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dirty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GitHub</a:t>
            </a:r>
          </a:p>
        </p:txBody>
      </p:sp>
      <p:sp>
        <p:nvSpPr>
          <p:cNvPr id="20" name="close-link">
            <a:extLst>
              <a:ext uri="{FF2B5EF4-FFF2-40B4-BE49-F238E27FC236}">
                <a16:creationId xmlns:a16="http://schemas.microsoft.com/office/drawing/2014/main" id="{205B009B-B6E6-489E-B73E-9B252041ABFD}"/>
              </a:ext>
            </a:extLst>
          </p:cNvPr>
          <p:cNvSpPr>
            <a:spLocks noGrp="1"/>
          </p:cNvSpPr>
          <p:nvPr/>
        </p:nvSpPr>
        <p:spPr>
          <a:xfrm>
            <a:off x="647700" y="5334000"/>
            <a:ext cx="6286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>
              <a:defRPr sz="1650" b="1">
                <a:solidFill>
                  <a:srgbClr val="005EA8"/>
                </a:solidFill>
                <a:latin typeface="Consolas"/>
                <a:ea typeface="Consolas"/>
                <a:cs typeface="Consolas"/>
              </a:defRPr>
            </a:pPr>
            <a:r>
              <a:rPr lang="en-US" sz="1650" b="1" dirty="0">
                <a:solidFill>
                  <a:srgbClr val="005EA8"/>
                </a:solidFill>
                <a:latin typeface="Consolas"/>
                <a:ea typeface="Consolas"/>
                <a:cs typeface="Consolas"/>
              </a:rPr>
              <a:t>https://github.com/virus874874/Bioinfo-Data</a:t>
            </a:r>
          </a:p>
        </p:txBody>
      </p:sp>
      <p:sp>
        <p:nvSpPr>
          <p:cNvPr id="21" name="close-five">
            <a:extLst>
              <a:ext uri="{FF2B5EF4-FFF2-40B4-BE49-F238E27FC236}">
                <a16:creationId xmlns:a16="http://schemas.microsoft.com/office/drawing/2014/main" id="{3C63305C-97B4-4E2A-B38F-0F415680E23A}"/>
              </a:ext>
            </a:extLst>
          </p:cNvPr>
          <p:cNvSpPr>
            <a:spLocks noGrp="1"/>
          </p:cNvSpPr>
          <p:nvPr/>
        </p:nvSpPr>
        <p:spPr>
          <a:xfrm>
            <a:off x="647700" y="5943600"/>
            <a:ext cx="723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650" b="1">
                <a:solidFill>
                  <a:srgbClr val="168A6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68A64"/>
                </a:solidFill>
                <a:latin typeface="Microsoft JhengHei"/>
                <a:ea typeface="Microsoft JhengHei"/>
                <a:cs typeface="Microsoft JhengHei"/>
              </a:rPr>
              <a:t>Problem ✓   Input ✓   Workflow ✓   Check ✓   Limit ✓</a:t>
            </a:r>
          </a:p>
        </p:txBody>
      </p:sp>
      <p:sp>
        <p:nvSpPr>
          <p:cNvPr id="22" name="close-page">
            <a:extLst>
              <a:ext uri="{FF2B5EF4-FFF2-40B4-BE49-F238E27FC236}">
                <a16:creationId xmlns:a16="http://schemas.microsoft.com/office/drawing/2014/main" id="{FF2AF992-E25C-4E9A-A7E3-C824C8BDD9D4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419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1667" lnSpcReduction="20000"/>
          </a:bodyPr>
          <a:lstStyle/>
          <a:p>
            <a:pPr algn="r">
              <a:defRPr sz="9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 dirty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0</a:t>
            </a:r>
            <a:r>
              <a:rPr lang="en-US" altLang="zh-TW" sz="975" b="0" dirty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9</a:t>
            </a:r>
            <a:endParaRPr sz="975" b="0" dirty="0">
              <a:solidFill>
                <a:srgbClr val="5B6472"/>
              </a:solidFill>
              <a:latin typeface="Microsoft JhengHei"/>
              <a:ea typeface="Microsoft JhengHei"/>
              <a:cs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104135289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575</Words>
  <Application>Microsoft Office PowerPoint</Application>
  <DocSecurity>0</DocSecurity>
  <PresentationFormat>寬螢幕</PresentationFormat>
  <Paragraphs>147</Paragraphs>
  <Slides>9</Slides>
  <Notes>9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3" baseType="lpstr">
      <vt:lpstr>Microsoft JhengHei</vt:lpstr>
      <vt:lpstr>Calibri</vt:lpstr>
      <vt:lpstr>Consolas</vt:lpstr>
      <vt:lpstr>ChatGPT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陳翊家</cp:lastModifiedBy>
  <cp:revision>2</cp:revision>
  <dcterms:created xsi:type="dcterms:W3CDTF">2026-07-12T16:28:31Z</dcterms:created>
  <dcterms:modified xsi:type="dcterms:W3CDTF">2026-07-13T04:41:52Z</dcterms:modified>
</cp:coreProperties>
</file>